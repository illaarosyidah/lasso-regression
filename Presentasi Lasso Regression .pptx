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691579F-E85D-4C31-9117-3D4B04958B47}">
  <a:tblStyle styleId="{8691579F-E85D-4C31-9117-3D4B04958B4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5" name="Google Shape;55;p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6" name="Google Shape;66;p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82" name="Google Shape;82;p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24" name="Google Shape;124;p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38" name="Google Shape;138;p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h2fa4fa7f348079a2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h2fa4fa7f348079a2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59" name="Google Shape;159;p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82" name="Google Shape;182;p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1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 name="Shape 7"/>
        <p:cNvGrpSpPr/>
        <p:nvPr/>
      </p:nvGrpSpPr>
      <p:grpSpPr>
        <a:xfrm>
          <a:off x="0" y="0"/>
          <a:ext cx="0" cy="0"/>
          <a:chOff x="0" y="0"/>
          <a:chExt cx="0" cy="0"/>
        </a:xfrm>
      </p:grpSpPr>
      <p:sp>
        <p:nvSpPr>
          <p:cNvPr id="8" name="Google Shape;8;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9" name="Google Shape;9;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0" name="Google Shape;10;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4332"/>
        </a:solidFill>
      </p:bgPr>
    </p:bg>
    <p:spTree>
      <p:nvGrpSpPr>
        <p:cNvPr id="56" name="Shape 56"/>
        <p:cNvGrpSpPr/>
        <p:nvPr/>
      </p:nvGrpSpPr>
      <p:grpSpPr>
        <a:xfrm>
          <a:off x="0" y="0"/>
          <a:ext cx="0" cy="0"/>
          <a:chOff x="0" y="0"/>
          <a:chExt cx="0" cy="0"/>
        </a:xfrm>
      </p:grpSpPr>
      <p:sp>
        <p:nvSpPr>
          <p:cNvPr id="57" name="Google Shape;57;p15"/>
          <p:cNvSpPr/>
          <p:nvPr/>
        </p:nvSpPr>
        <p:spPr>
          <a:xfrm>
            <a:off x="7269480" y="-1097280"/>
            <a:ext cx="3086100" cy="3086100"/>
          </a:xfrm>
          <a:prstGeom prst="ellipse">
            <a:avLst/>
          </a:prstGeom>
          <a:solidFill>
            <a:srgbClr val="2D6A4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5"/>
          <p:cNvSpPr/>
          <p:nvPr/>
        </p:nvSpPr>
        <p:spPr>
          <a:xfrm>
            <a:off x="7955280" y="3154680"/>
            <a:ext cx="2194560" cy="2194560"/>
          </a:xfrm>
          <a:prstGeom prst="ellipse">
            <a:avLst/>
          </a:prstGeom>
          <a:solidFill>
            <a:srgbClr val="163C2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5"/>
          <p:cNvSpPr/>
          <p:nvPr/>
        </p:nvSpPr>
        <p:spPr>
          <a:xfrm>
            <a:off x="548640" y="1303020"/>
            <a:ext cx="7406640" cy="1371600"/>
          </a:xfrm>
          <a:prstGeom prst="rect">
            <a:avLst/>
          </a:prstGeom>
          <a:noFill/>
          <a:ln>
            <a:noFill/>
          </a:ln>
        </p:spPr>
        <p:txBody>
          <a:bodyPr anchorCtr="0" anchor="ctr" bIns="34275" lIns="68575" spcFirstLastPara="1" rIns="68575" wrap="square" tIns="34275">
            <a:noAutofit/>
          </a:bodyPr>
          <a:lstStyle/>
          <a:p>
            <a:pPr indent="0" lvl="0" marL="0" marR="0" rtl="0" algn="l">
              <a:lnSpc>
                <a:spcPct val="108000"/>
              </a:lnSpc>
              <a:spcBef>
                <a:spcPts val="0"/>
              </a:spcBef>
              <a:spcAft>
                <a:spcPts val="0"/>
              </a:spcAft>
              <a:buClr>
                <a:srgbClr val="FFFFFF"/>
              </a:buClr>
              <a:buSzPts val="2900"/>
              <a:buFont typeface="Cambria"/>
              <a:buNone/>
            </a:pPr>
            <a:r>
              <a:rPr b="1" i="0" lang="en" sz="2900" u="none" cap="none" strike="noStrike">
                <a:solidFill>
                  <a:srgbClr val="FFFFFF"/>
                </a:solidFill>
                <a:latin typeface="Cambria"/>
                <a:ea typeface="Cambria"/>
                <a:cs typeface="Cambria"/>
                <a:sym typeface="Cambria"/>
              </a:rPr>
              <a:t>Stabilitas dan Informativeness Lasso Regression</a:t>
            </a:r>
            <a:endParaRPr b="0" i="0" sz="29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2900"/>
              <a:buFont typeface="Cambria"/>
              <a:buNone/>
            </a:pPr>
            <a:r>
              <a:rPr b="1" i="0" lang="en" sz="2900" u="none" cap="none" strike="noStrike">
                <a:solidFill>
                  <a:srgbClr val="FFFFFF"/>
                </a:solidFill>
                <a:latin typeface="Cambria"/>
                <a:ea typeface="Cambria"/>
                <a:cs typeface="Cambria"/>
                <a:sym typeface="Cambria"/>
              </a:rPr>
              <a:t>pada Data Energy Efficiency</a:t>
            </a:r>
            <a:endParaRPr b="0" i="0" sz="2900" u="none" cap="none" strike="noStrike">
              <a:solidFill>
                <a:schemeClr val="dk1"/>
              </a:solidFill>
              <a:latin typeface="Calibri"/>
              <a:ea typeface="Calibri"/>
              <a:cs typeface="Calibri"/>
              <a:sym typeface="Calibri"/>
            </a:endParaRPr>
          </a:p>
        </p:txBody>
      </p:sp>
      <p:sp>
        <p:nvSpPr>
          <p:cNvPr id="60" name="Google Shape;60;p15"/>
          <p:cNvSpPr/>
          <p:nvPr/>
        </p:nvSpPr>
        <p:spPr>
          <a:xfrm>
            <a:off x="548640" y="2708910"/>
            <a:ext cx="72009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CFE8DA"/>
              </a:buClr>
              <a:buSzPts val="1300"/>
              <a:buFont typeface="Calibri"/>
              <a:buNone/>
            </a:pPr>
            <a:r>
              <a:rPr b="0" i="1" lang="en" u="none" cap="none" strike="noStrike">
                <a:solidFill>
                  <a:srgbClr val="CFE8DA"/>
                </a:solidFill>
                <a:latin typeface="Calibri"/>
                <a:ea typeface="Calibri"/>
                <a:cs typeface="Calibri"/>
                <a:sym typeface="Calibri"/>
              </a:rPr>
              <a:t>Benchmarking terhadap Ridge Regression dan Linear Regression (OLS)</a:t>
            </a:r>
            <a:endParaRPr b="0" i="0" u="none" cap="none" strike="noStrike">
              <a:solidFill>
                <a:schemeClr val="dk1"/>
              </a:solidFill>
              <a:latin typeface="Calibri"/>
              <a:ea typeface="Calibri"/>
              <a:cs typeface="Calibri"/>
              <a:sym typeface="Calibri"/>
            </a:endParaRPr>
          </a:p>
        </p:txBody>
      </p:sp>
      <p:cxnSp>
        <p:nvCxnSpPr>
          <p:cNvPr id="61" name="Google Shape;61;p15"/>
          <p:cNvCxnSpPr/>
          <p:nvPr/>
        </p:nvCxnSpPr>
        <p:spPr>
          <a:xfrm>
            <a:off x="548640" y="3257550"/>
            <a:ext cx="1508760" cy="0"/>
          </a:xfrm>
          <a:prstGeom prst="straightConnector1">
            <a:avLst/>
          </a:prstGeom>
          <a:noFill/>
          <a:ln cap="flat" cmpd="sng" w="25400">
            <a:solidFill>
              <a:srgbClr val="74C69D"/>
            </a:solidFill>
            <a:prstDash val="solid"/>
            <a:round/>
            <a:headEnd len="sm" w="sm" type="none"/>
            <a:tailEnd len="sm" w="sm" type="none"/>
          </a:ln>
        </p:spPr>
      </p:cxnSp>
      <p:sp>
        <p:nvSpPr>
          <p:cNvPr id="62" name="Google Shape;62;p15"/>
          <p:cNvSpPr/>
          <p:nvPr/>
        </p:nvSpPr>
        <p:spPr>
          <a:xfrm>
            <a:off x="548640" y="3463290"/>
            <a:ext cx="3429000" cy="102870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FFFFFF"/>
              </a:buClr>
              <a:buSzPts val="1100"/>
              <a:buFont typeface="Calibri"/>
              <a:buNone/>
            </a:pPr>
            <a:r>
              <a:rPr b="1" i="0" lang="en" sz="1200" u="none" cap="none" strike="noStrike">
                <a:solidFill>
                  <a:srgbClr val="FFFFFF"/>
                </a:solidFill>
                <a:latin typeface="Calibri"/>
                <a:ea typeface="Calibri"/>
                <a:cs typeface="Calibri"/>
                <a:sym typeface="Calibri"/>
              </a:rPr>
              <a:t>Yusrifa Audzar</a:t>
            </a:r>
            <a:endParaRPr b="0"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B7D8C6"/>
              </a:buClr>
              <a:buSzPts val="900"/>
              <a:buFont typeface="Calibri"/>
              <a:buNone/>
            </a:pPr>
            <a:r>
              <a:rPr b="0" i="0" lang="en" sz="1000" u="none" cap="none" strike="noStrike">
                <a:solidFill>
                  <a:srgbClr val="B7D8C6"/>
                </a:solidFill>
                <a:latin typeface="Calibri"/>
                <a:ea typeface="Calibri"/>
                <a:cs typeface="Calibri"/>
                <a:sym typeface="Calibri"/>
              </a:rPr>
              <a:t>170420260001</a:t>
            </a:r>
            <a:endParaRPr b="0"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1100"/>
              <a:buFont typeface="Calibri"/>
              <a:buNone/>
            </a:pPr>
            <a:r>
              <a:rPr b="1" i="0" lang="en" sz="1200" u="none" cap="none" strike="noStrike">
                <a:solidFill>
                  <a:srgbClr val="FFFFFF"/>
                </a:solidFill>
                <a:latin typeface="Calibri"/>
                <a:ea typeface="Calibri"/>
                <a:cs typeface="Calibri"/>
                <a:sym typeface="Calibri"/>
              </a:rPr>
              <a:t>Illa Rosyidah</a:t>
            </a:r>
            <a:endParaRPr b="0"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B7D8C6"/>
              </a:buClr>
              <a:buSzPts val="900"/>
              <a:buFont typeface="Calibri"/>
              <a:buNone/>
            </a:pPr>
            <a:r>
              <a:rPr b="0" i="0" lang="en" sz="1000" u="none" cap="none" strike="noStrike">
                <a:solidFill>
                  <a:srgbClr val="B7D8C6"/>
                </a:solidFill>
                <a:latin typeface="Calibri"/>
                <a:ea typeface="Calibri"/>
                <a:cs typeface="Calibri"/>
                <a:sym typeface="Calibri"/>
              </a:rPr>
              <a:t>170420260003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16"/>
          <p:cNvSpPr txBox="1"/>
          <p:nvPr/>
        </p:nvSpPr>
        <p:spPr>
          <a:xfrm>
            <a:off x="422918" y="301201"/>
            <a:ext cx="8298300" cy="5487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4332"/>
              </a:buClr>
              <a:buSzPts val="2300"/>
              <a:buFont typeface="Cambria"/>
              <a:buNone/>
            </a:pPr>
            <a:r>
              <a:rPr b="1" i="0" lang="en" sz="2300" u="none" cap="none" strike="noStrike">
                <a:solidFill>
                  <a:srgbClr val="1B4332"/>
                </a:solidFill>
                <a:latin typeface="Cambria"/>
                <a:ea typeface="Cambria"/>
                <a:cs typeface="Cambria"/>
                <a:sym typeface="Cambria"/>
              </a:rPr>
              <a:t>Dataset Energy Efficiency</a:t>
            </a:r>
            <a:endParaRPr b="0" i="0" sz="2300" u="none" cap="none" strike="noStrike">
              <a:solidFill>
                <a:schemeClr val="dk1"/>
              </a:solidFill>
              <a:latin typeface="Calibri"/>
              <a:ea typeface="Calibri"/>
              <a:cs typeface="Calibri"/>
              <a:sym typeface="Calibri"/>
            </a:endParaRPr>
          </a:p>
        </p:txBody>
      </p:sp>
      <p:sp>
        <p:nvSpPr>
          <p:cNvPr id="69" name="Google Shape;69;p16"/>
          <p:cNvSpPr/>
          <p:nvPr/>
        </p:nvSpPr>
        <p:spPr>
          <a:xfrm>
            <a:off x="5757550" y="960400"/>
            <a:ext cx="2986500" cy="3642900"/>
          </a:xfrm>
          <a:prstGeom prst="roundRect">
            <a:avLst>
              <a:gd fmla="val 2449" name="adj"/>
            </a:avLst>
          </a:prstGeom>
          <a:solidFill>
            <a:srgbClr val="1B433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6"/>
          <p:cNvSpPr/>
          <p:nvPr/>
        </p:nvSpPr>
        <p:spPr>
          <a:xfrm>
            <a:off x="5744245" y="1280080"/>
            <a:ext cx="3566100" cy="2742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74C69D"/>
              </a:buClr>
              <a:buSzPts val="1200"/>
              <a:buFont typeface="Cambria"/>
              <a:buNone/>
            </a:pPr>
            <a:r>
              <a:rPr b="1" i="0" lang="en" sz="1200" u="none" cap="none" strike="noStrike">
                <a:solidFill>
                  <a:srgbClr val="74C69D"/>
                </a:solidFill>
                <a:latin typeface="Cambria"/>
                <a:ea typeface="Cambria"/>
                <a:cs typeface="Cambria"/>
                <a:sym typeface="Cambria"/>
              </a:rPr>
              <a:t>Rumusan Masalah</a:t>
            </a:r>
            <a:endParaRPr b="0" i="0" sz="1200" u="none" cap="none" strike="noStrike">
              <a:solidFill>
                <a:schemeClr val="dk1"/>
              </a:solidFill>
              <a:latin typeface="Calibri"/>
              <a:ea typeface="Calibri"/>
              <a:cs typeface="Calibri"/>
              <a:sym typeface="Calibri"/>
            </a:endParaRPr>
          </a:p>
        </p:txBody>
      </p:sp>
      <p:sp>
        <p:nvSpPr>
          <p:cNvPr id="71" name="Google Shape;71;p16"/>
          <p:cNvSpPr/>
          <p:nvPr/>
        </p:nvSpPr>
        <p:spPr>
          <a:xfrm>
            <a:off x="5710000" y="1611625"/>
            <a:ext cx="3081600" cy="107790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FFFFFF"/>
              </a:buClr>
              <a:buSzPts val="1200"/>
              <a:buFont typeface="Cambria"/>
              <a:buNone/>
            </a:pPr>
            <a:r>
              <a:rPr b="0" i="1" lang="en" sz="1200" u="none" cap="none" strike="noStrike">
                <a:solidFill>
                  <a:srgbClr val="FFFFFF"/>
                </a:solidFill>
                <a:latin typeface="Cambria"/>
                <a:ea typeface="Cambria"/>
                <a:cs typeface="Cambria"/>
                <a:sym typeface="Cambria"/>
              </a:rPr>
              <a:t>“Seberapa stabil dan informatif hasil Lasso Regression pada data Energy Efficiency ketika difokuskan pada proses benchmarking dan validasi?”</a:t>
            </a:r>
            <a:endParaRPr b="0" i="0" sz="1200" u="none" cap="none" strike="noStrike">
              <a:solidFill>
                <a:schemeClr val="dk1"/>
              </a:solidFill>
              <a:latin typeface="Calibri"/>
              <a:ea typeface="Calibri"/>
              <a:cs typeface="Calibri"/>
              <a:sym typeface="Calibri"/>
            </a:endParaRPr>
          </a:p>
        </p:txBody>
      </p:sp>
      <p:sp>
        <p:nvSpPr>
          <p:cNvPr id="72" name="Google Shape;72;p16"/>
          <p:cNvSpPr/>
          <p:nvPr/>
        </p:nvSpPr>
        <p:spPr>
          <a:xfrm>
            <a:off x="5710000" y="3080400"/>
            <a:ext cx="2698500" cy="980100"/>
          </a:xfrm>
          <a:prstGeom prst="rect">
            <a:avLst/>
          </a:prstGeom>
          <a:noFill/>
          <a:ln>
            <a:noFill/>
          </a:ln>
        </p:spPr>
        <p:txBody>
          <a:bodyPr anchorCtr="0" anchor="t" bIns="34275" lIns="68575" spcFirstLastPara="1" rIns="68575" wrap="square" tIns="34275">
            <a:noAutofit/>
          </a:bodyPr>
          <a:lstStyle/>
          <a:p>
            <a:pPr indent="0" lvl="0" marL="0" marR="0" rtl="0" algn="l">
              <a:lnSpc>
                <a:spcPct val="130000"/>
              </a:lnSpc>
              <a:spcBef>
                <a:spcPts val="0"/>
              </a:spcBef>
              <a:spcAft>
                <a:spcPts val="0"/>
              </a:spcAft>
              <a:buClr>
                <a:srgbClr val="74C69D"/>
              </a:buClr>
              <a:buSzPts val="1000"/>
              <a:buFont typeface="Calibri"/>
              <a:buNone/>
            </a:pPr>
            <a:r>
              <a:rPr b="1" i="0" lang="en" sz="1000" u="none" cap="none" strike="noStrike">
                <a:solidFill>
                  <a:srgbClr val="74C69D"/>
                </a:solidFill>
                <a:latin typeface="Calibri"/>
                <a:ea typeface="Calibri"/>
                <a:cs typeface="Calibri"/>
                <a:sym typeface="Calibri"/>
              </a:rPr>
              <a:t>Tujuan:</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E6F2EA"/>
              </a:buClr>
              <a:buSzPts val="1000"/>
              <a:buFont typeface="Calibri"/>
              <a:buNone/>
            </a:pPr>
            <a:r>
              <a:rPr b="0" i="0" lang="en" sz="1000" u="none" cap="none" strike="noStrike">
                <a:solidFill>
                  <a:srgbClr val="E6F2EA"/>
                </a:solidFill>
                <a:latin typeface="Calibri"/>
                <a:ea typeface="Calibri"/>
                <a:cs typeface="Calibri"/>
                <a:sym typeface="Calibri"/>
              </a:rPr>
              <a:t>1. Bandingkan performa Lasso vs Ridge vs OLS</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E6F2EA"/>
              </a:buClr>
              <a:buSzPts val="1000"/>
              <a:buFont typeface="Calibri"/>
              <a:buNone/>
            </a:pPr>
            <a:r>
              <a:rPr b="0" i="0" lang="en" sz="1000" u="none" cap="none" strike="noStrike">
                <a:solidFill>
                  <a:srgbClr val="E6F2EA"/>
                </a:solidFill>
                <a:latin typeface="Calibri"/>
                <a:ea typeface="Calibri"/>
                <a:cs typeface="Calibri"/>
                <a:sym typeface="Calibri"/>
              </a:rPr>
              <a:t>2. Uji stabilitas seleksi fitur (5-fold CV)</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E6F2EA"/>
              </a:buClr>
              <a:buSzPts val="1000"/>
              <a:buFont typeface="Calibri"/>
              <a:buNone/>
            </a:pPr>
            <a:r>
              <a:rPr b="0" i="0" lang="en" sz="1000" u="none" cap="none" strike="noStrike">
                <a:solidFill>
                  <a:srgbClr val="E6F2EA"/>
                </a:solidFill>
                <a:latin typeface="Calibri"/>
                <a:ea typeface="Calibri"/>
                <a:cs typeface="Calibri"/>
                <a:sym typeface="Calibri"/>
              </a:rPr>
              <a:t>3. Nilai informativeness koefisien Lasso</a:t>
            </a:r>
            <a:endParaRPr b="0" i="0" sz="1000" u="none" cap="none" strike="noStrike">
              <a:solidFill>
                <a:schemeClr val="dk1"/>
              </a:solidFill>
              <a:latin typeface="Calibri"/>
              <a:ea typeface="Calibri"/>
              <a:cs typeface="Calibri"/>
              <a:sym typeface="Calibri"/>
            </a:endParaRPr>
          </a:p>
        </p:txBody>
      </p:sp>
      <p:sp>
        <p:nvSpPr>
          <p:cNvPr id="73" name="Google Shape;73;p16"/>
          <p:cNvSpPr/>
          <p:nvPr/>
        </p:nvSpPr>
        <p:spPr>
          <a:xfrm>
            <a:off x="342900" y="4903470"/>
            <a:ext cx="65151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F6B66"/>
              </a:buClr>
              <a:buSzPts val="700"/>
              <a:buFont typeface="Calibri"/>
              <a:buNone/>
            </a:pPr>
            <a:r>
              <a:rPr b="0" i="0" lang="en" sz="700" u="none" cap="none" strike="noStrike">
                <a:solidFill>
                  <a:srgbClr val="5F6B66"/>
                </a:solidFill>
                <a:latin typeface="Calibri"/>
                <a:ea typeface="Calibri"/>
                <a:cs typeface="Calibri"/>
                <a:sym typeface="Calibri"/>
              </a:rPr>
              <a:t>Stabilitas &amp; Informativeness Lasso Regression pada Data Energy Efficiency</a:t>
            </a:r>
            <a:endParaRPr b="0" i="0" sz="700" u="none" cap="none" strike="noStrike">
              <a:solidFill>
                <a:schemeClr val="dk1"/>
              </a:solidFill>
              <a:latin typeface="Calibri"/>
              <a:ea typeface="Calibri"/>
              <a:cs typeface="Calibri"/>
              <a:sym typeface="Calibri"/>
            </a:endParaRPr>
          </a:p>
        </p:txBody>
      </p:sp>
      <p:sp>
        <p:nvSpPr>
          <p:cNvPr id="74" name="Google Shape;74;p16"/>
          <p:cNvSpPr/>
          <p:nvPr/>
        </p:nvSpPr>
        <p:spPr>
          <a:xfrm>
            <a:off x="8572500" y="4903470"/>
            <a:ext cx="27432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F6B66"/>
              </a:buClr>
              <a:buSzPts val="700"/>
              <a:buFont typeface="Calibri"/>
              <a:buNone/>
            </a:pPr>
            <a:r>
              <a:rPr b="0" i="0" lang="en" sz="700" u="none" cap="none" strike="noStrike">
                <a:solidFill>
                  <a:srgbClr val="5F6B66"/>
                </a:solidFill>
                <a:latin typeface="Calibri"/>
                <a:ea typeface="Calibri"/>
                <a:cs typeface="Calibri"/>
                <a:sym typeface="Calibri"/>
              </a:rPr>
              <a:t>2</a:t>
            </a:r>
            <a:endParaRPr b="0" i="0" sz="700" u="none" cap="none" strike="noStrike">
              <a:solidFill>
                <a:schemeClr val="dk1"/>
              </a:solidFill>
              <a:latin typeface="Calibri"/>
              <a:ea typeface="Calibri"/>
              <a:cs typeface="Calibri"/>
              <a:sym typeface="Calibri"/>
            </a:endParaRPr>
          </a:p>
        </p:txBody>
      </p:sp>
      <p:pic>
        <p:nvPicPr>
          <p:cNvPr id="75" name="Google Shape;75;p16"/>
          <p:cNvPicPr preferRelativeResize="0"/>
          <p:nvPr/>
        </p:nvPicPr>
        <p:blipFill rotWithShape="1">
          <a:blip r:embed="rId3">
            <a:alphaModFix/>
          </a:blip>
          <a:srcRect b="0" l="0" r="0" t="0"/>
          <a:stretch/>
        </p:blipFill>
        <p:spPr>
          <a:xfrm>
            <a:off x="113800" y="960388"/>
            <a:ext cx="5557600" cy="2009528"/>
          </a:xfrm>
          <a:prstGeom prst="rect">
            <a:avLst/>
          </a:prstGeom>
          <a:noFill/>
          <a:ln>
            <a:noFill/>
          </a:ln>
        </p:spPr>
      </p:pic>
      <p:sp>
        <p:nvSpPr>
          <p:cNvPr id="76" name="Google Shape;76;p16"/>
          <p:cNvSpPr/>
          <p:nvPr/>
        </p:nvSpPr>
        <p:spPr>
          <a:xfrm>
            <a:off x="160875" y="3080400"/>
            <a:ext cx="5462700" cy="1446000"/>
          </a:xfrm>
          <a:prstGeom prst="roundRect">
            <a:avLst>
              <a:gd fmla="val 2759" name="adj"/>
            </a:avLst>
          </a:prstGeom>
          <a:solidFill>
            <a:srgbClr val="DDEEE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6"/>
          <p:cNvSpPr/>
          <p:nvPr/>
        </p:nvSpPr>
        <p:spPr>
          <a:xfrm>
            <a:off x="232025" y="3184125"/>
            <a:ext cx="1707600" cy="1227600"/>
          </a:xfrm>
          <a:prstGeom prst="rect">
            <a:avLst/>
          </a:prstGeom>
          <a:no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1B1B1B"/>
              </a:buClr>
              <a:buSzPts val="900"/>
              <a:buFont typeface="Calibri"/>
              <a:buNone/>
            </a:pPr>
            <a:r>
              <a:rPr b="0" i="0" lang="en" sz="900" u="none" cap="none" strike="noStrike">
                <a:solidFill>
                  <a:srgbClr val="1B1B1B"/>
                </a:solidFill>
                <a:latin typeface="Calibri"/>
                <a:ea typeface="Calibri"/>
                <a:cs typeface="Calibri"/>
                <a:sym typeface="Calibri"/>
              </a:rPr>
              <a:t>X1 Relative Compactness</a:t>
            </a:r>
            <a:endParaRPr b="0" i="0" sz="900" u="none" cap="none" strike="noStrike">
              <a:solidFill>
                <a:srgbClr val="1B1B1B"/>
              </a:solidFill>
              <a:latin typeface="Calibri"/>
              <a:ea typeface="Calibri"/>
              <a:cs typeface="Calibri"/>
              <a:sym typeface="Calibri"/>
            </a:endParaRPr>
          </a:p>
          <a:p>
            <a:pPr indent="0" lvl="0" marL="0" marR="0" rtl="0" algn="l">
              <a:lnSpc>
                <a:spcPct val="150000"/>
              </a:lnSpc>
              <a:spcBef>
                <a:spcPts val="0"/>
              </a:spcBef>
              <a:spcAft>
                <a:spcPts val="0"/>
              </a:spcAft>
              <a:buClr>
                <a:srgbClr val="1B1B1B"/>
              </a:buClr>
              <a:buSzPts val="900"/>
              <a:buFont typeface="Calibri"/>
              <a:buNone/>
            </a:pPr>
            <a:r>
              <a:rPr b="0" i="0" lang="en" sz="900" u="none" cap="none" strike="noStrike">
                <a:solidFill>
                  <a:srgbClr val="1B1B1B"/>
                </a:solidFill>
                <a:latin typeface="Calibri"/>
                <a:ea typeface="Calibri"/>
                <a:cs typeface="Calibri"/>
                <a:sym typeface="Calibri"/>
              </a:rPr>
              <a:t>X2 Surface Area</a:t>
            </a:r>
            <a:endParaRPr b="0" i="0" sz="900" u="none" cap="none" strike="noStrike">
              <a:solidFill>
                <a:srgbClr val="1B1B1B"/>
              </a:solidFill>
              <a:latin typeface="Calibri"/>
              <a:ea typeface="Calibri"/>
              <a:cs typeface="Calibri"/>
              <a:sym typeface="Calibri"/>
            </a:endParaRPr>
          </a:p>
          <a:p>
            <a:pPr indent="0" lvl="0" marL="0" marR="0" rtl="0" algn="l">
              <a:lnSpc>
                <a:spcPct val="150000"/>
              </a:lnSpc>
              <a:spcBef>
                <a:spcPts val="0"/>
              </a:spcBef>
              <a:spcAft>
                <a:spcPts val="0"/>
              </a:spcAft>
              <a:buClr>
                <a:srgbClr val="1B1B1B"/>
              </a:buClr>
              <a:buSzPts val="900"/>
              <a:buFont typeface="Calibri"/>
              <a:buNone/>
            </a:pPr>
            <a:r>
              <a:rPr b="0" i="0" lang="en" sz="900" u="none" cap="none" strike="noStrike">
                <a:solidFill>
                  <a:srgbClr val="1B1B1B"/>
                </a:solidFill>
                <a:latin typeface="Calibri"/>
                <a:ea typeface="Calibri"/>
                <a:cs typeface="Calibri"/>
                <a:sym typeface="Calibri"/>
              </a:rPr>
              <a:t>X3 Wall Area</a:t>
            </a:r>
            <a:endParaRPr b="0" i="0" sz="900" u="none" cap="none" strike="noStrike">
              <a:solidFill>
                <a:srgbClr val="1B1B1B"/>
              </a:solidFill>
              <a:latin typeface="Calibri"/>
              <a:ea typeface="Calibri"/>
              <a:cs typeface="Calibri"/>
              <a:sym typeface="Calibri"/>
            </a:endParaRPr>
          </a:p>
          <a:p>
            <a:pPr indent="0" lvl="0" marL="0" marR="0" rtl="0" algn="l">
              <a:lnSpc>
                <a:spcPct val="150000"/>
              </a:lnSpc>
              <a:spcBef>
                <a:spcPts val="0"/>
              </a:spcBef>
              <a:spcAft>
                <a:spcPts val="0"/>
              </a:spcAft>
              <a:buClr>
                <a:srgbClr val="1B1B1B"/>
              </a:buClr>
              <a:buSzPts val="900"/>
              <a:buFont typeface="Calibri"/>
              <a:buNone/>
            </a:pPr>
            <a:r>
              <a:rPr b="0" i="0" lang="en" sz="900" u="none" cap="none" strike="noStrike">
                <a:solidFill>
                  <a:srgbClr val="1B1B1B"/>
                </a:solidFill>
                <a:latin typeface="Calibri"/>
                <a:ea typeface="Calibri"/>
                <a:cs typeface="Calibri"/>
                <a:sym typeface="Calibri"/>
              </a:rPr>
              <a:t>X4 Roof Area</a:t>
            </a:r>
            <a:endParaRPr b="0" i="0" sz="900" u="none" cap="none" strike="noStrike">
              <a:solidFill>
                <a:srgbClr val="1B1B1B"/>
              </a:solidFill>
              <a:latin typeface="Calibri"/>
              <a:ea typeface="Calibri"/>
              <a:cs typeface="Calibri"/>
              <a:sym typeface="Calibri"/>
            </a:endParaRPr>
          </a:p>
          <a:p>
            <a:pPr indent="0" lvl="0" marL="0" marR="0" rtl="0" algn="l">
              <a:lnSpc>
                <a:spcPct val="150000"/>
              </a:lnSpc>
              <a:spcBef>
                <a:spcPts val="0"/>
              </a:spcBef>
              <a:spcAft>
                <a:spcPts val="0"/>
              </a:spcAft>
              <a:buClr>
                <a:srgbClr val="1B1B1B"/>
              </a:buClr>
              <a:buSzPts val="900"/>
              <a:buFont typeface="Calibri"/>
              <a:buNone/>
            </a:pPr>
            <a:r>
              <a:rPr b="0" i="0" lang="en" sz="900" u="none" cap="none" strike="noStrike">
                <a:solidFill>
                  <a:srgbClr val="1B1B1B"/>
                </a:solidFill>
                <a:latin typeface="Calibri"/>
                <a:ea typeface="Calibri"/>
                <a:cs typeface="Calibri"/>
                <a:sym typeface="Calibri"/>
              </a:rPr>
              <a:t>X5 Overall Height</a:t>
            </a:r>
            <a:endParaRPr b="0" i="0" sz="900" u="none" cap="none" strike="noStrike">
              <a:solidFill>
                <a:srgbClr val="1B1B1B"/>
              </a:solidFill>
              <a:latin typeface="Calibri"/>
              <a:ea typeface="Calibri"/>
              <a:cs typeface="Calibri"/>
              <a:sym typeface="Calibri"/>
            </a:endParaRPr>
          </a:p>
        </p:txBody>
      </p:sp>
      <p:sp>
        <p:nvSpPr>
          <p:cNvPr id="78" name="Google Shape;78;p16"/>
          <p:cNvSpPr/>
          <p:nvPr/>
        </p:nvSpPr>
        <p:spPr>
          <a:xfrm>
            <a:off x="2971013" y="3189600"/>
            <a:ext cx="1707600" cy="1227600"/>
          </a:xfrm>
          <a:prstGeom prst="rect">
            <a:avLst/>
          </a:prstGeom>
          <a:no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1B1B1B"/>
              </a:buClr>
              <a:buSzPts val="900"/>
              <a:buFont typeface="Calibri"/>
              <a:buNone/>
            </a:pPr>
            <a:r>
              <a:rPr b="0" i="0" lang="en" sz="900" u="none" cap="none" strike="noStrike">
                <a:solidFill>
                  <a:srgbClr val="1B1B1B"/>
                </a:solidFill>
                <a:latin typeface="Calibri"/>
                <a:ea typeface="Calibri"/>
                <a:cs typeface="Calibri"/>
                <a:sym typeface="Calibri"/>
              </a:rPr>
              <a:t>X6 Orientation</a:t>
            </a:r>
            <a:endParaRPr b="0" i="0" sz="900" u="none" cap="none" strike="noStrike">
              <a:solidFill>
                <a:srgbClr val="1B1B1B"/>
              </a:solidFill>
              <a:latin typeface="Calibri"/>
              <a:ea typeface="Calibri"/>
              <a:cs typeface="Calibri"/>
              <a:sym typeface="Calibri"/>
            </a:endParaRPr>
          </a:p>
          <a:p>
            <a:pPr indent="0" lvl="0" marL="0" marR="0" rtl="0" algn="l">
              <a:lnSpc>
                <a:spcPct val="150000"/>
              </a:lnSpc>
              <a:spcBef>
                <a:spcPts val="0"/>
              </a:spcBef>
              <a:spcAft>
                <a:spcPts val="0"/>
              </a:spcAft>
              <a:buClr>
                <a:srgbClr val="1B1B1B"/>
              </a:buClr>
              <a:buSzPts val="900"/>
              <a:buFont typeface="Calibri"/>
              <a:buNone/>
            </a:pPr>
            <a:r>
              <a:rPr b="0" i="0" lang="en" sz="900" u="none" cap="none" strike="noStrike">
                <a:solidFill>
                  <a:srgbClr val="1B1B1B"/>
                </a:solidFill>
                <a:latin typeface="Calibri"/>
                <a:ea typeface="Calibri"/>
                <a:cs typeface="Calibri"/>
                <a:sym typeface="Calibri"/>
              </a:rPr>
              <a:t>X7 Glazing Area</a:t>
            </a:r>
            <a:endParaRPr b="0" i="0" sz="900" u="none" cap="none" strike="noStrike">
              <a:solidFill>
                <a:srgbClr val="1B1B1B"/>
              </a:solidFill>
              <a:latin typeface="Calibri"/>
              <a:ea typeface="Calibri"/>
              <a:cs typeface="Calibri"/>
              <a:sym typeface="Calibri"/>
            </a:endParaRPr>
          </a:p>
          <a:p>
            <a:pPr indent="0" lvl="0" marL="0" marR="0" rtl="0" algn="l">
              <a:lnSpc>
                <a:spcPct val="150000"/>
              </a:lnSpc>
              <a:spcBef>
                <a:spcPts val="0"/>
              </a:spcBef>
              <a:spcAft>
                <a:spcPts val="0"/>
              </a:spcAft>
              <a:buClr>
                <a:srgbClr val="1B1B1B"/>
              </a:buClr>
              <a:buSzPts val="900"/>
              <a:buFont typeface="Calibri"/>
              <a:buNone/>
            </a:pPr>
            <a:r>
              <a:rPr b="0" i="0" lang="en" sz="900" u="none" cap="none" strike="noStrike">
                <a:solidFill>
                  <a:srgbClr val="1B1B1B"/>
                </a:solidFill>
                <a:latin typeface="Calibri"/>
                <a:ea typeface="Calibri"/>
                <a:cs typeface="Calibri"/>
                <a:sym typeface="Calibri"/>
              </a:rPr>
              <a:t>X8 Glazing Area Distribution</a:t>
            </a:r>
            <a:endParaRPr b="0" i="0" sz="900" u="none" cap="none" strike="noStrike">
              <a:solidFill>
                <a:srgbClr val="1B1B1B"/>
              </a:solidFill>
              <a:latin typeface="Calibri"/>
              <a:ea typeface="Calibri"/>
              <a:cs typeface="Calibri"/>
              <a:sym typeface="Calibri"/>
            </a:endParaRPr>
          </a:p>
          <a:p>
            <a:pPr indent="0" lvl="0" marL="0" marR="0" rtl="0" algn="l">
              <a:lnSpc>
                <a:spcPct val="150000"/>
              </a:lnSpc>
              <a:spcBef>
                <a:spcPts val="0"/>
              </a:spcBef>
              <a:spcAft>
                <a:spcPts val="0"/>
              </a:spcAft>
              <a:buClr>
                <a:srgbClr val="1B1B1B"/>
              </a:buClr>
              <a:buSzPts val="900"/>
              <a:buFont typeface="Calibri"/>
              <a:buNone/>
            </a:pPr>
            <a:r>
              <a:rPr b="0" i="0" lang="en" sz="900" u="none" cap="none" strike="noStrike">
                <a:solidFill>
                  <a:srgbClr val="1B1B1B"/>
                </a:solidFill>
                <a:latin typeface="Calibri"/>
                <a:ea typeface="Calibri"/>
                <a:cs typeface="Calibri"/>
                <a:sym typeface="Calibri"/>
              </a:rPr>
              <a:t>Y1 Heating Load</a:t>
            </a:r>
            <a:endParaRPr b="0" i="0" sz="900" u="none" cap="none" strike="noStrike">
              <a:solidFill>
                <a:srgbClr val="1B1B1B"/>
              </a:solidFill>
              <a:latin typeface="Calibri"/>
              <a:ea typeface="Calibri"/>
              <a:cs typeface="Calibri"/>
              <a:sym typeface="Calibri"/>
            </a:endParaRPr>
          </a:p>
          <a:p>
            <a:pPr indent="0" lvl="0" marL="0" marR="0" rtl="0" algn="l">
              <a:lnSpc>
                <a:spcPct val="150000"/>
              </a:lnSpc>
              <a:spcBef>
                <a:spcPts val="0"/>
              </a:spcBef>
              <a:spcAft>
                <a:spcPts val="0"/>
              </a:spcAft>
              <a:buClr>
                <a:srgbClr val="1B1B1B"/>
              </a:buClr>
              <a:buSzPts val="900"/>
              <a:buFont typeface="Calibri"/>
              <a:buNone/>
            </a:pPr>
            <a:r>
              <a:rPr b="0" i="0" lang="en" sz="900" u="none" cap="none" strike="noStrike">
                <a:solidFill>
                  <a:srgbClr val="1B1B1B"/>
                </a:solidFill>
                <a:latin typeface="Calibri"/>
                <a:ea typeface="Calibri"/>
                <a:cs typeface="Calibri"/>
                <a:sym typeface="Calibri"/>
              </a:rPr>
              <a:t>Y2 Cooling Load</a:t>
            </a:r>
            <a:endParaRPr b="0" i="0" sz="900" u="none" cap="none" strike="noStrike">
              <a:solidFill>
                <a:srgbClr val="1B1B1B"/>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17"/>
          <p:cNvSpPr txBox="1"/>
          <p:nvPr/>
        </p:nvSpPr>
        <p:spPr>
          <a:xfrm>
            <a:off x="411480" y="493776"/>
            <a:ext cx="8298180" cy="5486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4332"/>
              </a:buClr>
              <a:buSzPts val="2300"/>
              <a:buFont typeface="Cambria"/>
              <a:buNone/>
            </a:pPr>
            <a:r>
              <a:rPr b="1" i="0" lang="en" sz="2300" u="none" cap="none" strike="noStrike">
                <a:solidFill>
                  <a:srgbClr val="1B4332"/>
                </a:solidFill>
                <a:latin typeface="Cambria"/>
                <a:ea typeface="Cambria"/>
                <a:cs typeface="Cambria"/>
                <a:sym typeface="Cambria"/>
              </a:rPr>
              <a:t>Alur Analisis Singkat</a:t>
            </a:r>
            <a:endParaRPr b="0" i="0" sz="2300" u="none" cap="none" strike="noStrike">
              <a:solidFill>
                <a:schemeClr val="dk1"/>
              </a:solidFill>
              <a:latin typeface="Calibri"/>
              <a:ea typeface="Calibri"/>
              <a:cs typeface="Calibri"/>
              <a:sym typeface="Calibri"/>
            </a:endParaRPr>
          </a:p>
        </p:txBody>
      </p:sp>
      <p:sp>
        <p:nvSpPr>
          <p:cNvPr id="85" name="Google Shape;85;p17"/>
          <p:cNvSpPr/>
          <p:nvPr/>
        </p:nvSpPr>
        <p:spPr>
          <a:xfrm>
            <a:off x="411480" y="1268730"/>
            <a:ext cx="1337310" cy="1165860"/>
          </a:xfrm>
          <a:prstGeom prst="roundRect">
            <a:avLst>
              <a:gd fmla="val 5882" name="adj"/>
            </a:avLst>
          </a:prstGeom>
          <a:solidFill>
            <a:srgbClr val="1B433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7"/>
          <p:cNvSpPr/>
          <p:nvPr/>
        </p:nvSpPr>
        <p:spPr>
          <a:xfrm>
            <a:off x="480060" y="1323594"/>
            <a:ext cx="34290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74C69D"/>
              </a:buClr>
              <a:buSzPts val="1400"/>
              <a:buFont typeface="Cambria"/>
              <a:buNone/>
            </a:pPr>
            <a:r>
              <a:rPr b="1" i="0" lang="en" sz="1400" u="none" cap="none" strike="noStrike">
                <a:solidFill>
                  <a:srgbClr val="74C69D"/>
                </a:solidFill>
                <a:latin typeface="Cambria"/>
                <a:ea typeface="Cambria"/>
                <a:cs typeface="Cambria"/>
                <a:sym typeface="Cambria"/>
              </a:rPr>
              <a:t>1</a:t>
            </a:r>
            <a:endParaRPr b="0" i="0" sz="1400" u="none" cap="none" strike="noStrike">
              <a:solidFill>
                <a:schemeClr val="dk1"/>
              </a:solidFill>
              <a:latin typeface="Calibri"/>
              <a:ea typeface="Calibri"/>
              <a:cs typeface="Calibri"/>
              <a:sym typeface="Calibri"/>
            </a:endParaRPr>
          </a:p>
        </p:txBody>
      </p:sp>
      <p:sp>
        <p:nvSpPr>
          <p:cNvPr id="87" name="Google Shape;87;p17"/>
          <p:cNvSpPr/>
          <p:nvPr/>
        </p:nvSpPr>
        <p:spPr>
          <a:xfrm>
            <a:off x="480060" y="1611630"/>
            <a:ext cx="1200150" cy="30861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900"/>
              <a:buFont typeface="Cambria"/>
              <a:buNone/>
            </a:pPr>
            <a:r>
              <a:rPr b="1" i="0" lang="en" sz="1100" u="none" cap="none" strike="noStrike">
                <a:solidFill>
                  <a:srgbClr val="FFFFFF"/>
                </a:solidFill>
                <a:latin typeface="Cambria"/>
                <a:ea typeface="Cambria"/>
                <a:cs typeface="Cambria"/>
                <a:sym typeface="Cambria"/>
              </a:rPr>
              <a:t>Data</a:t>
            </a:r>
            <a:endParaRPr b="0" i="0" sz="1100" u="none" cap="none" strike="noStrike">
              <a:solidFill>
                <a:schemeClr val="dk1"/>
              </a:solidFill>
              <a:latin typeface="Calibri"/>
              <a:ea typeface="Calibri"/>
              <a:cs typeface="Calibri"/>
              <a:sym typeface="Calibri"/>
            </a:endParaRPr>
          </a:p>
        </p:txBody>
      </p:sp>
      <p:sp>
        <p:nvSpPr>
          <p:cNvPr id="88" name="Google Shape;88;p17"/>
          <p:cNvSpPr/>
          <p:nvPr/>
        </p:nvSpPr>
        <p:spPr>
          <a:xfrm>
            <a:off x="480060" y="1940814"/>
            <a:ext cx="1200150" cy="44577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CFE8DA"/>
              </a:buClr>
              <a:buSzPts val="800"/>
              <a:buFont typeface="Calibri"/>
              <a:buNone/>
            </a:pPr>
            <a:r>
              <a:rPr b="0" i="0" lang="en" sz="1000" u="none" cap="none" strike="noStrike">
                <a:solidFill>
                  <a:srgbClr val="CFE8DA"/>
                </a:solidFill>
                <a:latin typeface="Calibri"/>
                <a:ea typeface="Calibri"/>
                <a:cs typeface="Calibri"/>
                <a:sym typeface="Calibri"/>
              </a:rPr>
              <a:t>768 obs, 8 prediktor,</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CFE8DA"/>
              </a:buClr>
              <a:buSzPts val="800"/>
              <a:buFont typeface="Calibri"/>
              <a:buNone/>
            </a:pPr>
            <a:r>
              <a:rPr b="0" i="0" lang="en" sz="1000" u="none" cap="none" strike="noStrike">
                <a:solidFill>
                  <a:srgbClr val="CFE8DA"/>
                </a:solidFill>
                <a:latin typeface="Calibri"/>
                <a:ea typeface="Calibri"/>
                <a:cs typeface="Calibri"/>
                <a:sym typeface="Calibri"/>
              </a:rPr>
              <a:t>Y1 &amp; Y2</a:t>
            </a:r>
            <a:endParaRPr b="0" i="0" sz="1000" u="none" cap="none" strike="noStrike">
              <a:solidFill>
                <a:schemeClr val="dk1"/>
              </a:solidFill>
              <a:latin typeface="Calibri"/>
              <a:ea typeface="Calibri"/>
              <a:cs typeface="Calibri"/>
              <a:sym typeface="Calibri"/>
            </a:endParaRPr>
          </a:p>
        </p:txBody>
      </p:sp>
      <p:sp>
        <p:nvSpPr>
          <p:cNvPr id="89" name="Google Shape;89;p17"/>
          <p:cNvSpPr txBox="1"/>
          <p:nvPr/>
        </p:nvSpPr>
        <p:spPr>
          <a:xfrm>
            <a:off x="1748790" y="1611630"/>
            <a:ext cx="109728" cy="4800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F6B66"/>
              </a:buClr>
              <a:buSzPts val="1200"/>
              <a:buFont typeface="Calibri"/>
              <a:buNone/>
            </a:pPr>
            <a:r>
              <a:rPr b="0" i="0" lang="en" sz="1200" u="none" cap="none" strike="noStrike">
                <a:solidFill>
                  <a:srgbClr val="5F6B6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90" name="Google Shape;90;p17"/>
          <p:cNvSpPr/>
          <p:nvPr/>
        </p:nvSpPr>
        <p:spPr>
          <a:xfrm>
            <a:off x="1851660" y="1268730"/>
            <a:ext cx="1337310" cy="1165860"/>
          </a:xfrm>
          <a:prstGeom prst="roundRect">
            <a:avLst>
              <a:gd fmla="val 5882" name="adj"/>
            </a:avLst>
          </a:prstGeom>
          <a:solidFill>
            <a:srgbClr val="1B433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7"/>
          <p:cNvSpPr/>
          <p:nvPr/>
        </p:nvSpPr>
        <p:spPr>
          <a:xfrm>
            <a:off x="1920240" y="1323594"/>
            <a:ext cx="34290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74C69D"/>
              </a:buClr>
              <a:buSzPts val="1400"/>
              <a:buFont typeface="Cambria"/>
              <a:buNone/>
            </a:pPr>
            <a:r>
              <a:rPr b="1" i="0" lang="en" sz="1400" u="none" cap="none" strike="noStrike">
                <a:solidFill>
                  <a:srgbClr val="74C69D"/>
                </a:solidFill>
                <a:latin typeface="Cambria"/>
                <a:ea typeface="Cambria"/>
                <a:cs typeface="Cambria"/>
                <a:sym typeface="Cambria"/>
              </a:rPr>
              <a:t>2</a:t>
            </a:r>
            <a:endParaRPr b="0" i="0" sz="1400" u="none" cap="none" strike="noStrike">
              <a:solidFill>
                <a:schemeClr val="dk1"/>
              </a:solidFill>
              <a:latin typeface="Calibri"/>
              <a:ea typeface="Calibri"/>
              <a:cs typeface="Calibri"/>
              <a:sym typeface="Calibri"/>
            </a:endParaRPr>
          </a:p>
        </p:txBody>
      </p:sp>
      <p:sp>
        <p:nvSpPr>
          <p:cNvPr id="92" name="Google Shape;92;p17"/>
          <p:cNvSpPr/>
          <p:nvPr/>
        </p:nvSpPr>
        <p:spPr>
          <a:xfrm>
            <a:off x="1920240" y="1611630"/>
            <a:ext cx="1200150" cy="30861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900"/>
              <a:buFont typeface="Cambria"/>
              <a:buNone/>
            </a:pPr>
            <a:r>
              <a:rPr b="1" i="0" lang="en" sz="1100" u="none" cap="none" strike="noStrike">
                <a:solidFill>
                  <a:srgbClr val="FFFFFF"/>
                </a:solidFill>
                <a:latin typeface="Cambria"/>
                <a:ea typeface="Cambria"/>
                <a:cs typeface="Cambria"/>
                <a:sym typeface="Cambria"/>
              </a:rPr>
              <a:t>Cek Multikolinearitas</a:t>
            </a:r>
            <a:endParaRPr b="0" i="0" sz="1100" u="none" cap="none" strike="noStrike">
              <a:solidFill>
                <a:schemeClr val="dk1"/>
              </a:solidFill>
              <a:latin typeface="Calibri"/>
              <a:ea typeface="Calibri"/>
              <a:cs typeface="Calibri"/>
              <a:sym typeface="Calibri"/>
            </a:endParaRPr>
          </a:p>
        </p:txBody>
      </p:sp>
      <p:sp>
        <p:nvSpPr>
          <p:cNvPr id="93" name="Google Shape;93;p17"/>
          <p:cNvSpPr/>
          <p:nvPr/>
        </p:nvSpPr>
        <p:spPr>
          <a:xfrm>
            <a:off x="1923665" y="1981964"/>
            <a:ext cx="1200300" cy="445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CFE8DA"/>
              </a:buClr>
              <a:buSzPts val="800"/>
              <a:buFont typeface="Calibri"/>
              <a:buNone/>
            </a:pPr>
            <a:r>
              <a:rPr b="0" i="0" lang="en" sz="1000" u="none" cap="none" strike="noStrike">
                <a:solidFill>
                  <a:srgbClr val="CFE8DA"/>
                </a:solidFill>
                <a:latin typeface="Calibri"/>
                <a:ea typeface="Calibri"/>
                <a:cs typeface="Calibri"/>
                <a:sym typeface="Calibri"/>
              </a:rPr>
              <a:t>OLS penuh + alias()</a:t>
            </a:r>
            <a:endParaRPr b="0" i="0" sz="1000" u="none" cap="none" strike="noStrike">
              <a:solidFill>
                <a:schemeClr val="dk1"/>
              </a:solidFill>
              <a:latin typeface="Calibri"/>
              <a:ea typeface="Calibri"/>
              <a:cs typeface="Calibri"/>
              <a:sym typeface="Calibri"/>
            </a:endParaRPr>
          </a:p>
        </p:txBody>
      </p:sp>
      <p:sp>
        <p:nvSpPr>
          <p:cNvPr id="94" name="Google Shape;94;p17"/>
          <p:cNvSpPr txBox="1"/>
          <p:nvPr/>
        </p:nvSpPr>
        <p:spPr>
          <a:xfrm>
            <a:off x="3188970" y="1611630"/>
            <a:ext cx="109728" cy="4800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F6B66"/>
              </a:buClr>
              <a:buSzPts val="1200"/>
              <a:buFont typeface="Calibri"/>
              <a:buNone/>
            </a:pPr>
            <a:r>
              <a:rPr b="0" i="0" lang="en" sz="1200" u="none" cap="none" strike="noStrike">
                <a:solidFill>
                  <a:srgbClr val="5F6B6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95" name="Google Shape;95;p17"/>
          <p:cNvSpPr/>
          <p:nvPr/>
        </p:nvSpPr>
        <p:spPr>
          <a:xfrm>
            <a:off x="3291840" y="1268730"/>
            <a:ext cx="1337310" cy="1165860"/>
          </a:xfrm>
          <a:prstGeom prst="roundRect">
            <a:avLst>
              <a:gd fmla="val 5882" name="adj"/>
            </a:avLst>
          </a:prstGeom>
          <a:solidFill>
            <a:srgbClr val="1B433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7"/>
          <p:cNvSpPr/>
          <p:nvPr/>
        </p:nvSpPr>
        <p:spPr>
          <a:xfrm>
            <a:off x="3360420" y="1323594"/>
            <a:ext cx="34290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74C69D"/>
              </a:buClr>
              <a:buSzPts val="1400"/>
              <a:buFont typeface="Cambria"/>
              <a:buNone/>
            </a:pPr>
            <a:r>
              <a:rPr b="1" i="0" lang="en" sz="1400" u="none" cap="none" strike="noStrike">
                <a:solidFill>
                  <a:srgbClr val="74C69D"/>
                </a:solidFill>
                <a:latin typeface="Cambria"/>
                <a:ea typeface="Cambria"/>
                <a:cs typeface="Cambria"/>
                <a:sym typeface="Cambria"/>
              </a:rPr>
              <a:t>3</a:t>
            </a:r>
            <a:endParaRPr b="0" i="0" sz="1400" u="none" cap="none" strike="noStrike">
              <a:solidFill>
                <a:schemeClr val="dk1"/>
              </a:solidFill>
              <a:latin typeface="Calibri"/>
              <a:ea typeface="Calibri"/>
              <a:cs typeface="Calibri"/>
              <a:sym typeface="Calibri"/>
            </a:endParaRPr>
          </a:p>
        </p:txBody>
      </p:sp>
      <p:sp>
        <p:nvSpPr>
          <p:cNvPr id="97" name="Google Shape;97;p17"/>
          <p:cNvSpPr/>
          <p:nvPr/>
        </p:nvSpPr>
        <p:spPr>
          <a:xfrm>
            <a:off x="3360420" y="1611630"/>
            <a:ext cx="1200150" cy="30861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900"/>
              <a:buFont typeface="Cambria"/>
              <a:buNone/>
            </a:pPr>
            <a:r>
              <a:rPr b="1" i="0" lang="en" sz="1100" u="none" cap="none" strike="noStrike">
                <a:solidFill>
                  <a:srgbClr val="FFFFFF"/>
                </a:solidFill>
                <a:latin typeface="Cambria"/>
                <a:ea typeface="Cambria"/>
                <a:cs typeface="Cambria"/>
                <a:sym typeface="Cambria"/>
              </a:rPr>
              <a:t>Split 80:20</a:t>
            </a:r>
            <a:endParaRPr b="0" i="0" sz="1100" u="none" cap="none" strike="noStrike">
              <a:solidFill>
                <a:schemeClr val="dk1"/>
              </a:solidFill>
              <a:latin typeface="Calibri"/>
              <a:ea typeface="Calibri"/>
              <a:cs typeface="Calibri"/>
              <a:sym typeface="Calibri"/>
            </a:endParaRPr>
          </a:p>
        </p:txBody>
      </p:sp>
      <p:sp>
        <p:nvSpPr>
          <p:cNvPr id="98" name="Google Shape;98;p17"/>
          <p:cNvSpPr/>
          <p:nvPr/>
        </p:nvSpPr>
        <p:spPr>
          <a:xfrm>
            <a:off x="3360420" y="1940814"/>
            <a:ext cx="1200150" cy="44577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CFE8DA"/>
              </a:buClr>
              <a:buSzPts val="800"/>
              <a:buFont typeface="Calibri"/>
              <a:buNone/>
            </a:pPr>
            <a:r>
              <a:rPr b="0" i="0" lang="en" sz="1000" u="none" cap="none" strike="noStrike">
                <a:solidFill>
                  <a:srgbClr val="CFE8DA"/>
                </a:solidFill>
                <a:latin typeface="Calibri"/>
                <a:ea typeface="Calibri"/>
                <a:cs typeface="Calibri"/>
                <a:sym typeface="Calibri"/>
              </a:rPr>
              <a:t>Stratifikasi pada Y</a:t>
            </a:r>
            <a:endParaRPr b="0" i="0" sz="1000" u="none" cap="none" strike="noStrike">
              <a:solidFill>
                <a:schemeClr val="dk1"/>
              </a:solidFill>
              <a:latin typeface="Calibri"/>
              <a:ea typeface="Calibri"/>
              <a:cs typeface="Calibri"/>
              <a:sym typeface="Calibri"/>
            </a:endParaRPr>
          </a:p>
        </p:txBody>
      </p:sp>
      <p:sp>
        <p:nvSpPr>
          <p:cNvPr id="99" name="Google Shape;99;p17"/>
          <p:cNvSpPr txBox="1"/>
          <p:nvPr/>
        </p:nvSpPr>
        <p:spPr>
          <a:xfrm>
            <a:off x="4629150" y="1611630"/>
            <a:ext cx="109728" cy="4800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F6B66"/>
              </a:buClr>
              <a:buSzPts val="1200"/>
              <a:buFont typeface="Calibri"/>
              <a:buNone/>
            </a:pPr>
            <a:r>
              <a:rPr b="0" i="0" lang="en" sz="1200" u="none" cap="none" strike="noStrike">
                <a:solidFill>
                  <a:srgbClr val="5F6B6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00" name="Google Shape;100;p17"/>
          <p:cNvSpPr/>
          <p:nvPr/>
        </p:nvSpPr>
        <p:spPr>
          <a:xfrm>
            <a:off x="4732020" y="1268730"/>
            <a:ext cx="1337310" cy="1165860"/>
          </a:xfrm>
          <a:prstGeom prst="roundRect">
            <a:avLst>
              <a:gd fmla="val 5882" name="adj"/>
            </a:avLst>
          </a:prstGeom>
          <a:solidFill>
            <a:srgbClr val="1B433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7"/>
          <p:cNvSpPr/>
          <p:nvPr/>
        </p:nvSpPr>
        <p:spPr>
          <a:xfrm>
            <a:off x="4800600" y="1323594"/>
            <a:ext cx="34290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74C69D"/>
              </a:buClr>
              <a:buSzPts val="1400"/>
              <a:buFont typeface="Cambria"/>
              <a:buNone/>
            </a:pPr>
            <a:r>
              <a:rPr b="1" i="0" lang="en" sz="1400" u="none" cap="none" strike="noStrike">
                <a:solidFill>
                  <a:srgbClr val="74C69D"/>
                </a:solidFill>
                <a:latin typeface="Cambria"/>
                <a:ea typeface="Cambria"/>
                <a:cs typeface="Cambria"/>
                <a:sym typeface="Cambria"/>
              </a:rPr>
              <a:t>4</a:t>
            </a:r>
            <a:endParaRPr b="0" i="0" sz="1400" u="none" cap="none" strike="noStrike">
              <a:solidFill>
                <a:schemeClr val="dk1"/>
              </a:solidFill>
              <a:latin typeface="Calibri"/>
              <a:ea typeface="Calibri"/>
              <a:cs typeface="Calibri"/>
              <a:sym typeface="Calibri"/>
            </a:endParaRPr>
          </a:p>
        </p:txBody>
      </p:sp>
      <p:sp>
        <p:nvSpPr>
          <p:cNvPr id="102" name="Google Shape;102;p17"/>
          <p:cNvSpPr/>
          <p:nvPr/>
        </p:nvSpPr>
        <p:spPr>
          <a:xfrm>
            <a:off x="4800600" y="1611630"/>
            <a:ext cx="1200150" cy="30861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900"/>
              <a:buFont typeface="Cambria"/>
              <a:buNone/>
            </a:pPr>
            <a:r>
              <a:rPr b="1" i="0" lang="en" sz="1100" u="none" cap="none" strike="noStrike">
                <a:solidFill>
                  <a:srgbClr val="FFFFFF"/>
                </a:solidFill>
                <a:latin typeface="Cambria"/>
                <a:ea typeface="Cambria"/>
                <a:cs typeface="Cambria"/>
                <a:sym typeface="Cambria"/>
              </a:rPr>
              <a:t>5-Fold CV</a:t>
            </a:r>
            <a:endParaRPr b="0" i="0" sz="1100" u="none" cap="none" strike="noStrike">
              <a:solidFill>
                <a:schemeClr val="dk1"/>
              </a:solidFill>
              <a:latin typeface="Calibri"/>
              <a:ea typeface="Calibri"/>
              <a:cs typeface="Calibri"/>
              <a:sym typeface="Calibri"/>
            </a:endParaRPr>
          </a:p>
        </p:txBody>
      </p:sp>
      <p:sp>
        <p:nvSpPr>
          <p:cNvPr id="103" name="Google Shape;103;p17"/>
          <p:cNvSpPr/>
          <p:nvPr/>
        </p:nvSpPr>
        <p:spPr>
          <a:xfrm>
            <a:off x="4800600" y="1940814"/>
            <a:ext cx="1200150" cy="44577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CFE8DA"/>
              </a:buClr>
              <a:buSzPts val="800"/>
              <a:buFont typeface="Calibri"/>
              <a:buNone/>
            </a:pPr>
            <a:r>
              <a:rPr b="0" i="0" lang="en" sz="1000" u="none" cap="none" strike="noStrike">
                <a:solidFill>
                  <a:srgbClr val="CFE8DA"/>
                </a:solidFill>
                <a:latin typeface="Calibri"/>
                <a:ea typeface="Calibri"/>
                <a:cs typeface="Calibri"/>
                <a:sym typeface="Calibri"/>
              </a:rPr>
              <a:t>Tuning λ pada data latih</a:t>
            </a:r>
            <a:endParaRPr b="0" i="0" sz="1000" u="none" cap="none" strike="noStrike">
              <a:solidFill>
                <a:schemeClr val="dk1"/>
              </a:solidFill>
              <a:latin typeface="Calibri"/>
              <a:ea typeface="Calibri"/>
              <a:cs typeface="Calibri"/>
              <a:sym typeface="Calibri"/>
            </a:endParaRPr>
          </a:p>
        </p:txBody>
      </p:sp>
      <p:sp>
        <p:nvSpPr>
          <p:cNvPr id="104" name="Google Shape;104;p17"/>
          <p:cNvSpPr txBox="1"/>
          <p:nvPr/>
        </p:nvSpPr>
        <p:spPr>
          <a:xfrm>
            <a:off x="6069330" y="1611630"/>
            <a:ext cx="109728" cy="4800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F6B66"/>
              </a:buClr>
              <a:buSzPts val="1200"/>
              <a:buFont typeface="Calibri"/>
              <a:buNone/>
            </a:pPr>
            <a:r>
              <a:rPr b="0" i="0" lang="en" sz="1200" u="none" cap="none" strike="noStrike">
                <a:solidFill>
                  <a:srgbClr val="5F6B6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05" name="Google Shape;105;p17"/>
          <p:cNvSpPr/>
          <p:nvPr/>
        </p:nvSpPr>
        <p:spPr>
          <a:xfrm>
            <a:off x="6172200" y="1268730"/>
            <a:ext cx="1337310" cy="1165860"/>
          </a:xfrm>
          <a:prstGeom prst="roundRect">
            <a:avLst>
              <a:gd fmla="val 5882" name="adj"/>
            </a:avLst>
          </a:prstGeom>
          <a:solidFill>
            <a:srgbClr val="1B433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7"/>
          <p:cNvSpPr/>
          <p:nvPr/>
        </p:nvSpPr>
        <p:spPr>
          <a:xfrm>
            <a:off x="6240780" y="1323594"/>
            <a:ext cx="34290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74C69D"/>
              </a:buClr>
              <a:buSzPts val="1400"/>
              <a:buFont typeface="Cambria"/>
              <a:buNone/>
            </a:pPr>
            <a:r>
              <a:rPr b="1" i="0" lang="en" sz="1400" u="none" cap="none" strike="noStrike">
                <a:solidFill>
                  <a:srgbClr val="74C69D"/>
                </a:solidFill>
                <a:latin typeface="Cambria"/>
                <a:ea typeface="Cambria"/>
                <a:cs typeface="Cambria"/>
                <a:sym typeface="Cambria"/>
              </a:rPr>
              <a:t>5</a:t>
            </a:r>
            <a:endParaRPr b="0" i="0" sz="1400" u="none" cap="none" strike="noStrike">
              <a:solidFill>
                <a:schemeClr val="dk1"/>
              </a:solidFill>
              <a:latin typeface="Calibri"/>
              <a:ea typeface="Calibri"/>
              <a:cs typeface="Calibri"/>
              <a:sym typeface="Calibri"/>
            </a:endParaRPr>
          </a:p>
        </p:txBody>
      </p:sp>
      <p:sp>
        <p:nvSpPr>
          <p:cNvPr id="107" name="Google Shape;107;p17"/>
          <p:cNvSpPr/>
          <p:nvPr/>
        </p:nvSpPr>
        <p:spPr>
          <a:xfrm>
            <a:off x="6240780" y="1611630"/>
            <a:ext cx="1200150" cy="30861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900"/>
              <a:buFont typeface="Cambria"/>
              <a:buNone/>
            </a:pPr>
            <a:r>
              <a:rPr b="1" i="0" lang="en" sz="1100" u="none" cap="none" strike="noStrike">
                <a:solidFill>
                  <a:srgbClr val="FFFFFF"/>
                </a:solidFill>
                <a:latin typeface="Cambria"/>
                <a:ea typeface="Cambria"/>
                <a:cs typeface="Cambria"/>
                <a:sym typeface="Cambria"/>
              </a:rPr>
              <a:t>Standardisasi</a:t>
            </a:r>
            <a:endParaRPr b="0" i="0" sz="1100" u="none" cap="none" strike="noStrike">
              <a:solidFill>
                <a:schemeClr val="dk1"/>
              </a:solidFill>
              <a:latin typeface="Calibri"/>
              <a:ea typeface="Calibri"/>
              <a:cs typeface="Calibri"/>
              <a:sym typeface="Calibri"/>
            </a:endParaRPr>
          </a:p>
        </p:txBody>
      </p:sp>
      <p:sp>
        <p:nvSpPr>
          <p:cNvPr id="108" name="Google Shape;108;p17"/>
          <p:cNvSpPr/>
          <p:nvPr/>
        </p:nvSpPr>
        <p:spPr>
          <a:xfrm>
            <a:off x="6240780" y="1940814"/>
            <a:ext cx="1200150" cy="44577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CFE8DA"/>
              </a:buClr>
              <a:buSzPts val="800"/>
              <a:buFont typeface="Calibri"/>
              <a:buNone/>
            </a:pPr>
            <a:r>
              <a:rPr b="0" i="0" lang="en" sz="1000" u="none" cap="none" strike="noStrike">
                <a:solidFill>
                  <a:srgbClr val="CFE8DA"/>
                </a:solidFill>
                <a:latin typeface="Calibri"/>
                <a:ea typeface="Calibri"/>
                <a:cs typeface="Calibri"/>
                <a:sym typeface="Calibri"/>
              </a:rPr>
              <a:t>Per-fold, cegah data leakage</a:t>
            </a:r>
            <a:endParaRPr b="0" i="0" sz="1000" u="none" cap="none" strike="noStrike">
              <a:solidFill>
                <a:schemeClr val="dk1"/>
              </a:solidFill>
              <a:latin typeface="Calibri"/>
              <a:ea typeface="Calibri"/>
              <a:cs typeface="Calibri"/>
              <a:sym typeface="Calibri"/>
            </a:endParaRPr>
          </a:p>
        </p:txBody>
      </p:sp>
      <p:sp>
        <p:nvSpPr>
          <p:cNvPr id="109" name="Google Shape;109;p17"/>
          <p:cNvSpPr txBox="1"/>
          <p:nvPr/>
        </p:nvSpPr>
        <p:spPr>
          <a:xfrm>
            <a:off x="7509510" y="1611630"/>
            <a:ext cx="109728" cy="4800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F6B66"/>
              </a:buClr>
              <a:buSzPts val="1200"/>
              <a:buFont typeface="Calibri"/>
              <a:buNone/>
            </a:pPr>
            <a:r>
              <a:rPr b="0" i="0" lang="en" sz="1200" u="none" cap="none" strike="noStrike">
                <a:solidFill>
                  <a:srgbClr val="5F6B6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10" name="Google Shape;110;p17"/>
          <p:cNvSpPr/>
          <p:nvPr/>
        </p:nvSpPr>
        <p:spPr>
          <a:xfrm>
            <a:off x="7612380" y="1268730"/>
            <a:ext cx="1337310" cy="1165860"/>
          </a:xfrm>
          <a:prstGeom prst="roundRect">
            <a:avLst>
              <a:gd fmla="val 5882" name="adj"/>
            </a:avLst>
          </a:prstGeom>
          <a:solidFill>
            <a:srgbClr val="74C69D"/>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7"/>
          <p:cNvSpPr/>
          <p:nvPr/>
        </p:nvSpPr>
        <p:spPr>
          <a:xfrm>
            <a:off x="7680960" y="1323594"/>
            <a:ext cx="34290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4332"/>
              </a:buClr>
              <a:buSzPts val="1400"/>
              <a:buFont typeface="Cambria"/>
              <a:buNone/>
            </a:pPr>
            <a:r>
              <a:rPr b="1" i="0" lang="en" sz="1400" u="none" cap="none" strike="noStrike">
                <a:solidFill>
                  <a:srgbClr val="1B4332"/>
                </a:solidFill>
                <a:latin typeface="Cambria"/>
                <a:ea typeface="Cambria"/>
                <a:cs typeface="Cambria"/>
                <a:sym typeface="Cambria"/>
              </a:rPr>
              <a:t>6</a:t>
            </a:r>
            <a:endParaRPr b="0" i="0" sz="1400" u="none" cap="none" strike="noStrike">
              <a:solidFill>
                <a:schemeClr val="dk1"/>
              </a:solidFill>
              <a:latin typeface="Calibri"/>
              <a:ea typeface="Calibri"/>
              <a:cs typeface="Calibri"/>
              <a:sym typeface="Calibri"/>
            </a:endParaRPr>
          </a:p>
        </p:txBody>
      </p:sp>
      <p:sp>
        <p:nvSpPr>
          <p:cNvPr id="112" name="Google Shape;112;p17"/>
          <p:cNvSpPr/>
          <p:nvPr/>
        </p:nvSpPr>
        <p:spPr>
          <a:xfrm>
            <a:off x="7680960" y="1611630"/>
            <a:ext cx="1200150" cy="30861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900"/>
              <a:buFont typeface="Cambria"/>
              <a:buNone/>
            </a:pPr>
            <a:r>
              <a:rPr b="1" i="0" lang="en" sz="1100" u="none" cap="none" strike="noStrike">
                <a:solidFill>
                  <a:srgbClr val="FFFFFF"/>
                </a:solidFill>
                <a:latin typeface="Cambria"/>
                <a:ea typeface="Cambria"/>
                <a:cs typeface="Cambria"/>
                <a:sym typeface="Cambria"/>
              </a:rPr>
              <a:t>3 Model</a:t>
            </a:r>
            <a:endParaRPr b="0" i="0" sz="1100" u="none" cap="none" strike="noStrike">
              <a:solidFill>
                <a:schemeClr val="dk1"/>
              </a:solidFill>
              <a:latin typeface="Calibri"/>
              <a:ea typeface="Calibri"/>
              <a:cs typeface="Calibri"/>
              <a:sym typeface="Calibri"/>
            </a:endParaRPr>
          </a:p>
        </p:txBody>
      </p:sp>
      <p:sp>
        <p:nvSpPr>
          <p:cNvPr id="113" name="Google Shape;113;p17"/>
          <p:cNvSpPr/>
          <p:nvPr/>
        </p:nvSpPr>
        <p:spPr>
          <a:xfrm>
            <a:off x="7680960" y="1940814"/>
            <a:ext cx="1200150" cy="44577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B4332"/>
              </a:buClr>
              <a:buSzPts val="800"/>
              <a:buFont typeface="Calibri"/>
              <a:buNone/>
            </a:pPr>
            <a:r>
              <a:rPr b="0" i="0" lang="en" sz="1000" u="none" cap="none" strike="noStrike">
                <a:solidFill>
                  <a:srgbClr val="1B4332"/>
                </a:solidFill>
                <a:latin typeface="Calibri"/>
                <a:ea typeface="Calibri"/>
                <a:cs typeface="Calibri"/>
                <a:sym typeface="Calibri"/>
              </a:rPr>
              <a:t>Lasso, Ridge, OLS (glmnet)</a:t>
            </a:r>
            <a:endParaRPr b="0" i="0" sz="1000" u="none" cap="none" strike="noStrike">
              <a:solidFill>
                <a:schemeClr val="dk1"/>
              </a:solidFill>
              <a:latin typeface="Calibri"/>
              <a:ea typeface="Calibri"/>
              <a:cs typeface="Calibri"/>
              <a:sym typeface="Calibri"/>
            </a:endParaRPr>
          </a:p>
        </p:txBody>
      </p:sp>
      <p:sp>
        <p:nvSpPr>
          <p:cNvPr id="114" name="Google Shape;114;p17"/>
          <p:cNvSpPr/>
          <p:nvPr/>
        </p:nvSpPr>
        <p:spPr>
          <a:xfrm>
            <a:off x="411480" y="2674620"/>
            <a:ext cx="8298180" cy="1783080"/>
          </a:xfrm>
          <a:prstGeom prst="roundRect">
            <a:avLst>
              <a:gd fmla="val 4615" name="adj"/>
            </a:avLst>
          </a:prstGeom>
          <a:solidFill>
            <a:srgbClr val="F1F5F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7"/>
          <p:cNvSpPr/>
          <p:nvPr/>
        </p:nvSpPr>
        <p:spPr>
          <a:xfrm>
            <a:off x="651510" y="2811780"/>
            <a:ext cx="342900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4332"/>
              </a:buClr>
              <a:buSzPts val="1100"/>
              <a:buFont typeface="Cambria"/>
              <a:buNone/>
            </a:pPr>
            <a:r>
              <a:rPr b="1" i="0" lang="en" u="none" cap="none" strike="noStrike">
                <a:solidFill>
                  <a:srgbClr val="1B4332"/>
                </a:solidFill>
                <a:latin typeface="Cambria"/>
                <a:ea typeface="Cambria"/>
                <a:cs typeface="Cambria"/>
                <a:sym typeface="Cambria"/>
              </a:rPr>
              <a:t>Evaluasi &amp; Tuning</a:t>
            </a:r>
            <a:endParaRPr b="0" i="0" u="none" cap="none" strike="noStrike">
              <a:solidFill>
                <a:schemeClr val="dk1"/>
              </a:solidFill>
              <a:latin typeface="Calibri"/>
              <a:ea typeface="Calibri"/>
              <a:cs typeface="Calibri"/>
              <a:sym typeface="Calibri"/>
            </a:endParaRPr>
          </a:p>
        </p:txBody>
      </p:sp>
      <p:sp>
        <p:nvSpPr>
          <p:cNvPr id="116" name="Google Shape;116;p17"/>
          <p:cNvSpPr/>
          <p:nvPr/>
        </p:nvSpPr>
        <p:spPr>
          <a:xfrm>
            <a:off x="651510" y="3120390"/>
            <a:ext cx="5074920" cy="1234440"/>
          </a:xfrm>
          <a:prstGeom prst="rect">
            <a:avLst/>
          </a:prstGeom>
          <a:noFill/>
          <a:ln>
            <a:noFill/>
          </a:ln>
        </p:spPr>
        <p:txBody>
          <a:bodyPr anchorCtr="0" anchor="t" bIns="34275" lIns="68575" spcFirstLastPara="1" rIns="68575" wrap="square" tIns="34275">
            <a:noAutofit/>
          </a:bodyPr>
          <a:lstStyle/>
          <a:p>
            <a:pPr indent="0" lvl="0" marL="0" marR="0" rtl="0" algn="l">
              <a:lnSpc>
                <a:spcPct val="135000"/>
              </a:lnSpc>
              <a:spcBef>
                <a:spcPts val="0"/>
              </a:spcBef>
              <a:spcAft>
                <a:spcPts val="0"/>
              </a:spcAft>
              <a:buClr>
                <a:srgbClr val="1B1B1B"/>
              </a:buClr>
              <a:buSzPts val="900"/>
              <a:buFont typeface="Calibri"/>
              <a:buNone/>
            </a:pPr>
            <a:r>
              <a:rPr b="0" i="0" lang="en" sz="1200" u="none" cap="none" strike="noStrike">
                <a:solidFill>
                  <a:srgbClr val="1B1B1B"/>
                </a:solidFill>
                <a:latin typeface="Calibri"/>
                <a:ea typeface="Calibri"/>
                <a:cs typeface="Calibri"/>
                <a:sym typeface="Calibri"/>
              </a:rPr>
              <a:t>•  Grid λ: 50 nilai, rentang 10⁻⁴ – 10¹; λ optimal dipilih dari RMSE CV terkecil</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1B1B1B"/>
              </a:buClr>
              <a:buSzPts val="900"/>
              <a:buFont typeface="Calibri"/>
              <a:buNone/>
            </a:pPr>
            <a:r>
              <a:rPr b="0" i="0" lang="en" sz="1200" u="none" cap="none" strike="noStrike">
                <a:solidFill>
                  <a:srgbClr val="1B1B1B"/>
                </a:solidFill>
                <a:latin typeface="Calibri"/>
                <a:ea typeface="Calibri"/>
                <a:cs typeface="Calibri"/>
                <a:sym typeface="Calibri"/>
              </a:rPr>
              <a:t>•  Model final dilatih ulang di seluruh data latih, dievaluasi satu kali di test set (last_fit)</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1B1B1B"/>
              </a:buClr>
              <a:buSzPts val="900"/>
              <a:buFont typeface="Calibri"/>
              <a:buNone/>
            </a:pPr>
            <a:r>
              <a:rPr b="0" i="0" lang="en" sz="1200" u="none" cap="none" strike="noStrike">
                <a:solidFill>
                  <a:srgbClr val="1B1B1B"/>
                </a:solidFill>
                <a:latin typeface="Calibri"/>
                <a:ea typeface="Calibri"/>
                <a:cs typeface="Calibri"/>
                <a:sym typeface="Calibri"/>
              </a:rPr>
              <a:t>•  set.seed(123) untuk menjamin reproduktibilitas hasil</a:t>
            </a:r>
            <a:endParaRPr b="0" i="0" sz="1200" u="none" cap="none" strike="noStrike">
              <a:solidFill>
                <a:schemeClr val="dk1"/>
              </a:solidFill>
              <a:latin typeface="Calibri"/>
              <a:ea typeface="Calibri"/>
              <a:cs typeface="Calibri"/>
              <a:sym typeface="Calibri"/>
            </a:endParaRPr>
          </a:p>
        </p:txBody>
      </p:sp>
      <p:sp>
        <p:nvSpPr>
          <p:cNvPr id="117" name="Google Shape;117;p17"/>
          <p:cNvSpPr/>
          <p:nvPr/>
        </p:nvSpPr>
        <p:spPr>
          <a:xfrm>
            <a:off x="5966460" y="2811780"/>
            <a:ext cx="253746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4332"/>
              </a:buClr>
              <a:buSzPts val="1100"/>
              <a:buFont typeface="Cambria"/>
              <a:buNone/>
            </a:pPr>
            <a:r>
              <a:rPr b="1" i="0" lang="en" u="none" cap="none" strike="noStrike">
                <a:solidFill>
                  <a:srgbClr val="1B4332"/>
                </a:solidFill>
                <a:latin typeface="Cambria"/>
                <a:ea typeface="Cambria"/>
                <a:cs typeface="Cambria"/>
                <a:sym typeface="Cambria"/>
              </a:rPr>
              <a:t>Stabilitas Fitur</a:t>
            </a:r>
            <a:endParaRPr b="0" i="0" u="none" cap="none" strike="noStrike">
              <a:solidFill>
                <a:schemeClr val="dk1"/>
              </a:solidFill>
              <a:latin typeface="Calibri"/>
              <a:ea typeface="Calibri"/>
              <a:cs typeface="Calibri"/>
              <a:sym typeface="Calibri"/>
            </a:endParaRPr>
          </a:p>
        </p:txBody>
      </p:sp>
      <p:sp>
        <p:nvSpPr>
          <p:cNvPr id="118" name="Google Shape;118;p17"/>
          <p:cNvSpPr/>
          <p:nvPr/>
        </p:nvSpPr>
        <p:spPr>
          <a:xfrm>
            <a:off x="5966460" y="3120390"/>
            <a:ext cx="2537460" cy="1234440"/>
          </a:xfrm>
          <a:prstGeom prst="rect">
            <a:avLst/>
          </a:prstGeom>
          <a:noFill/>
          <a:ln>
            <a:noFill/>
          </a:ln>
        </p:spPr>
        <p:txBody>
          <a:bodyPr anchorCtr="0" anchor="t" bIns="34275" lIns="68575" spcFirstLastPara="1" rIns="68575" wrap="square" tIns="34275">
            <a:noAutofit/>
          </a:bodyPr>
          <a:lstStyle/>
          <a:p>
            <a:pPr indent="0" lvl="0" marL="0" marR="0" rtl="0" algn="l">
              <a:lnSpc>
                <a:spcPct val="135000"/>
              </a:lnSpc>
              <a:spcBef>
                <a:spcPts val="0"/>
              </a:spcBef>
              <a:spcAft>
                <a:spcPts val="0"/>
              </a:spcAft>
              <a:buClr>
                <a:srgbClr val="1B1B1B"/>
              </a:buClr>
              <a:buSzPts val="900"/>
              <a:buFont typeface="Calibri"/>
              <a:buNone/>
            </a:pPr>
            <a:r>
              <a:rPr b="0" i="0" lang="en" sz="1200" u="none" cap="none" strike="noStrike">
                <a:solidFill>
                  <a:srgbClr val="1B1B1B"/>
                </a:solidFill>
                <a:latin typeface="Calibri"/>
                <a:ea typeface="Calibri"/>
                <a:cs typeface="Calibri"/>
                <a:sym typeface="Calibri"/>
              </a:rPr>
              <a:t>Model final (λ terkunci) dilatih ulang pada 5-fold yang sama → hitung frekuensi tiap variabel terpilih (koefisien ≠ 0) di sepanjang fold.</a:t>
            </a:r>
            <a:endParaRPr b="0" i="0" sz="1200" u="none" cap="none" strike="noStrike">
              <a:solidFill>
                <a:schemeClr val="dk1"/>
              </a:solidFill>
              <a:latin typeface="Calibri"/>
              <a:ea typeface="Calibri"/>
              <a:cs typeface="Calibri"/>
              <a:sym typeface="Calibri"/>
            </a:endParaRPr>
          </a:p>
        </p:txBody>
      </p:sp>
      <p:sp>
        <p:nvSpPr>
          <p:cNvPr id="119" name="Google Shape;119;p17"/>
          <p:cNvSpPr/>
          <p:nvPr/>
        </p:nvSpPr>
        <p:spPr>
          <a:xfrm>
            <a:off x="342900" y="4903470"/>
            <a:ext cx="65151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F6B66"/>
              </a:buClr>
              <a:buSzPts val="700"/>
              <a:buFont typeface="Calibri"/>
              <a:buNone/>
            </a:pPr>
            <a:r>
              <a:rPr b="0" i="0" lang="en" sz="700" u="none" cap="none" strike="noStrike">
                <a:solidFill>
                  <a:srgbClr val="5F6B66"/>
                </a:solidFill>
                <a:latin typeface="Calibri"/>
                <a:ea typeface="Calibri"/>
                <a:cs typeface="Calibri"/>
                <a:sym typeface="Calibri"/>
              </a:rPr>
              <a:t>Stabilitas &amp; Informativeness Lasso Regression pada Data Energy Efficiency</a:t>
            </a:r>
            <a:endParaRPr b="0" i="0" sz="700" u="none" cap="none" strike="noStrike">
              <a:solidFill>
                <a:schemeClr val="dk1"/>
              </a:solidFill>
              <a:latin typeface="Calibri"/>
              <a:ea typeface="Calibri"/>
              <a:cs typeface="Calibri"/>
              <a:sym typeface="Calibri"/>
            </a:endParaRPr>
          </a:p>
        </p:txBody>
      </p:sp>
      <p:sp>
        <p:nvSpPr>
          <p:cNvPr id="120" name="Google Shape;120;p17"/>
          <p:cNvSpPr/>
          <p:nvPr/>
        </p:nvSpPr>
        <p:spPr>
          <a:xfrm>
            <a:off x="8572500" y="4903470"/>
            <a:ext cx="27432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F6B66"/>
              </a:buClr>
              <a:buSzPts val="700"/>
              <a:buFont typeface="Calibri"/>
              <a:buNone/>
            </a:pPr>
            <a:r>
              <a:rPr b="0" i="0" lang="en" sz="700" u="none" cap="none" strike="noStrike">
                <a:solidFill>
                  <a:srgbClr val="5F6B66"/>
                </a:solidFill>
                <a:latin typeface="Calibri"/>
                <a:ea typeface="Calibri"/>
                <a:cs typeface="Calibri"/>
                <a:sym typeface="Calibri"/>
              </a:rPr>
              <a:t>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18"/>
          <p:cNvSpPr txBox="1"/>
          <p:nvPr/>
        </p:nvSpPr>
        <p:spPr>
          <a:xfrm>
            <a:off x="411480" y="493776"/>
            <a:ext cx="8298180" cy="5486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4332"/>
              </a:buClr>
              <a:buSzPts val="2300"/>
              <a:buFont typeface="Cambria"/>
              <a:buNone/>
            </a:pPr>
            <a:r>
              <a:rPr b="1" i="0" lang="en" sz="2300" u="none" cap="none" strike="noStrike">
                <a:solidFill>
                  <a:srgbClr val="1B4332"/>
                </a:solidFill>
                <a:latin typeface="Cambria"/>
                <a:ea typeface="Cambria"/>
                <a:cs typeface="Cambria"/>
                <a:sym typeface="Cambria"/>
              </a:rPr>
              <a:t>Asumsi Utama Lasso &amp; Cara Pemeriksaannya</a:t>
            </a:r>
            <a:endParaRPr b="0" i="0" sz="2300" u="none" cap="none" strike="noStrike">
              <a:solidFill>
                <a:schemeClr val="dk1"/>
              </a:solidFill>
              <a:latin typeface="Calibri"/>
              <a:ea typeface="Calibri"/>
              <a:cs typeface="Calibri"/>
              <a:sym typeface="Calibri"/>
            </a:endParaRPr>
          </a:p>
        </p:txBody>
      </p:sp>
      <p:sp>
        <p:nvSpPr>
          <p:cNvPr id="127" name="Google Shape;127;p18"/>
          <p:cNvSpPr/>
          <p:nvPr/>
        </p:nvSpPr>
        <p:spPr>
          <a:xfrm>
            <a:off x="411480" y="1097280"/>
            <a:ext cx="4046220" cy="3360420"/>
          </a:xfrm>
          <a:prstGeom prst="roundRect">
            <a:avLst>
              <a:gd fmla="val 2449" name="adj"/>
            </a:avLst>
          </a:prstGeom>
          <a:solidFill>
            <a:srgbClr val="F1F5F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8"/>
          <p:cNvSpPr/>
          <p:nvPr/>
        </p:nvSpPr>
        <p:spPr>
          <a:xfrm>
            <a:off x="651510" y="1268730"/>
            <a:ext cx="356616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4332"/>
              </a:buClr>
              <a:buSzPts val="1200"/>
              <a:buFont typeface="Cambria"/>
              <a:buNone/>
            </a:pPr>
            <a:r>
              <a:rPr b="1" i="0" lang="en" u="none" cap="none" strike="noStrike">
                <a:solidFill>
                  <a:srgbClr val="1B4332"/>
                </a:solidFill>
                <a:latin typeface="Cambria"/>
                <a:ea typeface="Cambria"/>
                <a:cs typeface="Cambria"/>
                <a:sym typeface="Cambria"/>
              </a:rPr>
              <a:t>Asumsi Utama</a:t>
            </a:r>
            <a:endParaRPr b="0" i="0" u="none" cap="none" strike="noStrike">
              <a:solidFill>
                <a:schemeClr val="dk1"/>
              </a:solidFill>
              <a:latin typeface="Calibri"/>
              <a:ea typeface="Calibri"/>
              <a:cs typeface="Calibri"/>
              <a:sym typeface="Calibri"/>
            </a:endParaRPr>
          </a:p>
        </p:txBody>
      </p:sp>
      <p:sp>
        <p:nvSpPr>
          <p:cNvPr id="129" name="Google Shape;129;p18"/>
          <p:cNvSpPr/>
          <p:nvPr/>
        </p:nvSpPr>
        <p:spPr>
          <a:xfrm>
            <a:off x="651510" y="1577340"/>
            <a:ext cx="3600450" cy="2743200"/>
          </a:xfrm>
          <a:prstGeom prst="rect">
            <a:avLst/>
          </a:prstGeom>
          <a:noFill/>
          <a:ln>
            <a:noFill/>
          </a:ln>
        </p:spPr>
        <p:txBody>
          <a:bodyPr anchorCtr="0" anchor="t" bIns="34275" lIns="68575" spcFirstLastPara="1" rIns="68575" wrap="square" tIns="34275">
            <a:noAutofit/>
          </a:bodyPr>
          <a:lstStyle/>
          <a:p>
            <a:pPr indent="-304800" lvl="0" marL="457200" marR="0" rtl="0" algn="l">
              <a:lnSpc>
                <a:spcPct val="135000"/>
              </a:lnSpc>
              <a:spcBef>
                <a:spcPts val="0"/>
              </a:spcBef>
              <a:spcAft>
                <a:spcPts val="0"/>
              </a:spcAft>
              <a:buClr>
                <a:srgbClr val="1B1B1B"/>
              </a:buClr>
              <a:buSzPts val="1200"/>
              <a:buFont typeface="Calibri"/>
              <a:buAutoNum type="arabicPeriod"/>
            </a:pPr>
            <a:r>
              <a:rPr b="0" i="0" lang="en" sz="1200" u="none" cap="none" strike="noStrike">
                <a:solidFill>
                  <a:srgbClr val="1B1B1B"/>
                </a:solidFill>
                <a:latin typeface="Calibri"/>
                <a:ea typeface="Calibri"/>
                <a:cs typeface="Calibri"/>
                <a:sym typeface="Calibri"/>
              </a:rPr>
              <a:t>  </a:t>
            </a:r>
            <a:r>
              <a:rPr b="1" i="0" lang="en" sz="1200" u="none" cap="none" strike="noStrike">
                <a:solidFill>
                  <a:srgbClr val="1B1B1B"/>
                </a:solidFill>
                <a:latin typeface="Calibri"/>
                <a:ea typeface="Calibri"/>
                <a:cs typeface="Calibri"/>
                <a:sym typeface="Calibri"/>
              </a:rPr>
              <a:t>Hubungan linear </a:t>
            </a:r>
            <a:r>
              <a:rPr b="0" i="0" lang="en" sz="1200" u="none" cap="none" strike="noStrike">
                <a:solidFill>
                  <a:srgbClr val="1B1B1B"/>
                </a:solidFill>
                <a:latin typeface="Calibri"/>
                <a:ea typeface="Calibri"/>
                <a:cs typeface="Calibri"/>
                <a:sym typeface="Calibri"/>
              </a:rPr>
              <a:t>antara prediktor &amp; target (seperti regresi pada umumnya)</a:t>
            </a:r>
            <a:endParaRPr sz="1200">
              <a:solidFill>
                <a:schemeClr val="dk1"/>
              </a:solidFill>
              <a:latin typeface="Calibri"/>
              <a:ea typeface="Calibri"/>
              <a:cs typeface="Calibri"/>
              <a:sym typeface="Calibri"/>
            </a:endParaRPr>
          </a:p>
          <a:p>
            <a:pPr indent="-304800" lvl="0" marL="457200" marR="0" rtl="0" algn="l">
              <a:lnSpc>
                <a:spcPct val="135000"/>
              </a:lnSpc>
              <a:spcBef>
                <a:spcPts val="0"/>
              </a:spcBef>
              <a:spcAft>
                <a:spcPts val="0"/>
              </a:spcAft>
              <a:buClr>
                <a:srgbClr val="1B1B1B"/>
              </a:buClr>
              <a:buSzPts val="1200"/>
              <a:buFont typeface="Calibri"/>
              <a:buAutoNum type="arabicPeriod"/>
            </a:pPr>
            <a:r>
              <a:rPr b="1" i="0" lang="en" sz="1200" u="none" cap="none" strike="noStrike">
                <a:solidFill>
                  <a:srgbClr val="1B1B1B"/>
                </a:solidFill>
                <a:latin typeface="Calibri"/>
                <a:ea typeface="Calibri"/>
                <a:cs typeface="Calibri"/>
                <a:sym typeface="Calibri"/>
              </a:rPr>
              <a:t>TIDAK mengasumsikan bebas multikolinearitas</a:t>
            </a:r>
            <a:r>
              <a:rPr b="0" i="0" lang="en" sz="1200" u="none" cap="none" strike="noStrike">
                <a:solidFill>
                  <a:srgbClr val="1B1B1B"/>
                </a:solidFill>
                <a:latin typeface="Calibri"/>
                <a:ea typeface="Calibri"/>
                <a:cs typeface="Calibri"/>
                <a:sym typeface="Calibri"/>
              </a:rPr>
              <a:t> — justru dirancang menghadapinya lewat penalti L1 </a:t>
            </a:r>
            <a:endParaRPr b="0" i="0" sz="1200" u="none" cap="none" strike="noStrike">
              <a:solidFill>
                <a:srgbClr val="1B1B1B"/>
              </a:solidFill>
              <a:latin typeface="Calibri"/>
              <a:ea typeface="Calibri"/>
              <a:cs typeface="Calibri"/>
              <a:sym typeface="Calibri"/>
            </a:endParaRPr>
          </a:p>
          <a:p>
            <a:pPr indent="-304800" lvl="0" marL="457200" rtl="0" algn="l">
              <a:lnSpc>
                <a:spcPct val="135000"/>
              </a:lnSpc>
              <a:spcBef>
                <a:spcPts val="0"/>
              </a:spcBef>
              <a:spcAft>
                <a:spcPts val="0"/>
              </a:spcAft>
              <a:buClr>
                <a:srgbClr val="1B1B1B"/>
              </a:buClr>
              <a:buSzPts val="1200"/>
              <a:buFont typeface="Calibri"/>
              <a:buAutoNum type="arabicPeriod"/>
            </a:pPr>
            <a:r>
              <a:rPr lang="en" sz="1200">
                <a:solidFill>
                  <a:srgbClr val="1B1B1B"/>
                </a:solidFill>
                <a:latin typeface="Calibri"/>
                <a:ea typeface="Calibri"/>
                <a:cs typeface="Calibri"/>
                <a:sym typeface="Calibri"/>
              </a:rPr>
              <a:t>Error mendekati normal &amp; homoskedastik</a:t>
            </a:r>
            <a:endParaRPr sz="1200">
              <a:solidFill>
                <a:srgbClr val="1B1B1B"/>
              </a:solidFill>
              <a:latin typeface="Calibri"/>
              <a:ea typeface="Calibri"/>
              <a:cs typeface="Calibri"/>
              <a:sym typeface="Calibri"/>
            </a:endParaRPr>
          </a:p>
          <a:p>
            <a:pPr indent="-304800" lvl="0" marL="457200" marR="0" rtl="0" algn="l">
              <a:lnSpc>
                <a:spcPct val="135000"/>
              </a:lnSpc>
              <a:spcBef>
                <a:spcPts val="0"/>
              </a:spcBef>
              <a:spcAft>
                <a:spcPts val="0"/>
              </a:spcAft>
              <a:buClr>
                <a:srgbClr val="1B1B1B"/>
              </a:buClr>
              <a:buSzPts val="1200"/>
              <a:buFont typeface="Calibri"/>
              <a:buAutoNum type="arabicPeriod"/>
            </a:pPr>
            <a:r>
              <a:rPr b="1" i="0" lang="en" sz="1200" u="none" cap="none" strike="noStrike">
                <a:solidFill>
                  <a:srgbClr val="1B1B1B"/>
                </a:solidFill>
                <a:latin typeface="Calibri"/>
                <a:ea typeface="Calibri"/>
                <a:cs typeface="Calibri"/>
                <a:sym typeface="Calibri"/>
              </a:rPr>
              <a:t>Prediktor perlu distandardisasi </a:t>
            </a:r>
            <a:r>
              <a:rPr b="0" i="0" lang="en" sz="1200" u="none" cap="none" strike="noStrike">
                <a:solidFill>
                  <a:srgbClr val="1B1B1B"/>
                </a:solidFill>
                <a:latin typeface="Calibri"/>
                <a:ea typeface="Calibri"/>
                <a:cs typeface="Calibri"/>
                <a:sym typeface="Calibri"/>
              </a:rPr>
              <a:t>agar penalti bekerja adil pada semua skala variabel</a:t>
            </a:r>
            <a:endParaRPr b="0" i="0" sz="1200" u="none" cap="none" strike="noStrike">
              <a:solidFill>
                <a:schemeClr val="dk1"/>
              </a:solidFill>
              <a:latin typeface="Calibri"/>
              <a:ea typeface="Calibri"/>
              <a:cs typeface="Calibri"/>
              <a:sym typeface="Calibri"/>
            </a:endParaRPr>
          </a:p>
        </p:txBody>
      </p:sp>
      <p:sp>
        <p:nvSpPr>
          <p:cNvPr id="130" name="Google Shape;130;p18"/>
          <p:cNvSpPr/>
          <p:nvPr/>
        </p:nvSpPr>
        <p:spPr>
          <a:xfrm>
            <a:off x="4663440" y="1097280"/>
            <a:ext cx="4080510" cy="3360420"/>
          </a:xfrm>
          <a:prstGeom prst="roundRect">
            <a:avLst>
              <a:gd fmla="val 2449" name="adj"/>
            </a:avLst>
          </a:prstGeom>
          <a:solidFill>
            <a:srgbClr val="1B433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8"/>
          <p:cNvSpPr/>
          <p:nvPr/>
        </p:nvSpPr>
        <p:spPr>
          <a:xfrm>
            <a:off x="4903470" y="1268730"/>
            <a:ext cx="363474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74C69D"/>
              </a:buClr>
              <a:buSzPts val="1200"/>
              <a:buFont typeface="Cambria"/>
              <a:buNone/>
            </a:pPr>
            <a:r>
              <a:rPr b="1" i="0" lang="en" u="none" cap="none" strike="noStrike">
                <a:solidFill>
                  <a:srgbClr val="74C69D"/>
                </a:solidFill>
                <a:latin typeface="Cambria"/>
                <a:ea typeface="Cambria"/>
                <a:cs typeface="Cambria"/>
                <a:sym typeface="Cambria"/>
              </a:rPr>
              <a:t>Bagaimana Diperiksa</a:t>
            </a:r>
            <a:endParaRPr b="0" i="0" u="none" cap="none" strike="noStrike">
              <a:solidFill>
                <a:schemeClr val="dk1"/>
              </a:solidFill>
              <a:latin typeface="Calibri"/>
              <a:ea typeface="Calibri"/>
              <a:cs typeface="Calibri"/>
              <a:sym typeface="Calibri"/>
            </a:endParaRPr>
          </a:p>
        </p:txBody>
      </p:sp>
      <p:sp>
        <p:nvSpPr>
          <p:cNvPr id="132" name="Google Shape;132;p18"/>
          <p:cNvSpPr/>
          <p:nvPr/>
        </p:nvSpPr>
        <p:spPr>
          <a:xfrm>
            <a:off x="4903470" y="1577340"/>
            <a:ext cx="3634740" cy="2811780"/>
          </a:xfrm>
          <a:prstGeom prst="rect">
            <a:avLst/>
          </a:prstGeom>
          <a:noFill/>
          <a:ln>
            <a:noFill/>
          </a:ln>
        </p:spPr>
        <p:txBody>
          <a:bodyPr anchorCtr="0" anchor="t" bIns="34275" lIns="68575" spcFirstLastPara="1" rIns="68575" wrap="square" tIns="34275">
            <a:noAutofit/>
          </a:bodyPr>
          <a:lstStyle/>
          <a:p>
            <a:pPr indent="-298450" lvl="0" marL="457200" marR="0" rtl="0" algn="l">
              <a:lnSpc>
                <a:spcPct val="125000"/>
              </a:lnSpc>
              <a:spcBef>
                <a:spcPts val="0"/>
              </a:spcBef>
              <a:spcAft>
                <a:spcPts val="0"/>
              </a:spcAft>
              <a:buClr>
                <a:srgbClr val="FFFFFF"/>
              </a:buClr>
              <a:buSzPts val="1100"/>
              <a:buFont typeface="Calibri"/>
              <a:buAutoNum type="arabicPeriod"/>
            </a:pPr>
            <a:r>
              <a:rPr b="1" lang="en" sz="1100">
                <a:solidFill>
                  <a:srgbClr val="FFFFFF"/>
                </a:solidFill>
                <a:latin typeface="Calibri"/>
                <a:ea typeface="Calibri"/>
                <a:cs typeface="Calibri"/>
                <a:sym typeface="Calibri"/>
              </a:rPr>
              <a:t>Uji Linearitas </a:t>
            </a:r>
            <a:endParaRPr b="1" sz="1100">
              <a:solidFill>
                <a:srgbClr val="FFFFFF"/>
              </a:solidFill>
              <a:latin typeface="Calibri"/>
              <a:ea typeface="Calibri"/>
              <a:cs typeface="Calibri"/>
              <a:sym typeface="Calibri"/>
            </a:endParaRPr>
          </a:p>
          <a:p>
            <a:pPr indent="0" lvl="0" marL="0" marR="0" rtl="0" algn="l">
              <a:lnSpc>
                <a:spcPct val="125000"/>
              </a:lnSpc>
              <a:spcBef>
                <a:spcPts val="0"/>
              </a:spcBef>
              <a:spcAft>
                <a:spcPts val="0"/>
              </a:spcAft>
              <a:buNone/>
            </a:pPr>
            <a:r>
              <a:rPr lang="en" sz="1100">
                <a:solidFill>
                  <a:srgbClr val="FFFFFF"/>
                </a:solidFill>
                <a:latin typeface="Calibri"/>
                <a:ea typeface="Calibri"/>
                <a:cs typeface="Calibri"/>
                <a:sym typeface="Calibri"/>
              </a:rPr>
              <a:t>Dengan uji RESET, diperoleh p-value &lt; 2.2e-16 </a:t>
            </a:r>
            <a:endParaRPr sz="1000">
              <a:solidFill>
                <a:schemeClr val="dk1"/>
              </a:solidFill>
              <a:highlight>
                <a:srgbClr val="FFFFFF"/>
              </a:highlight>
              <a:latin typeface="Courier New"/>
              <a:ea typeface="Courier New"/>
              <a:cs typeface="Courier New"/>
              <a:sym typeface="Courier New"/>
            </a:endParaRPr>
          </a:p>
          <a:p>
            <a:pPr indent="0" lvl="0" marL="0" marR="0" rtl="0" algn="l">
              <a:lnSpc>
                <a:spcPct val="125000"/>
              </a:lnSpc>
              <a:spcBef>
                <a:spcPts val="0"/>
              </a:spcBef>
              <a:spcAft>
                <a:spcPts val="0"/>
              </a:spcAft>
              <a:buNone/>
            </a:pPr>
            <a:r>
              <a:rPr lang="en" sz="1100">
                <a:solidFill>
                  <a:srgbClr val="FFFFFF"/>
                </a:solidFill>
                <a:latin typeface="Calibri"/>
                <a:ea typeface="Calibri"/>
                <a:cs typeface="Calibri"/>
                <a:sym typeface="Calibri"/>
              </a:rPr>
              <a:t>s</a:t>
            </a:r>
            <a:r>
              <a:rPr lang="en" sz="1100">
                <a:solidFill>
                  <a:srgbClr val="FFFFFF"/>
                </a:solidFill>
                <a:latin typeface="Calibri"/>
                <a:ea typeface="Calibri"/>
                <a:cs typeface="Calibri"/>
                <a:sym typeface="Calibri"/>
              </a:rPr>
              <a:t>ehingga hubungan antara prediktor dan target  tidak linear</a:t>
            </a:r>
            <a:endParaRPr sz="1100">
              <a:solidFill>
                <a:srgbClr val="FFFFFF"/>
              </a:solidFill>
              <a:latin typeface="Calibri"/>
              <a:ea typeface="Calibri"/>
              <a:cs typeface="Calibri"/>
              <a:sym typeface="Calibri"/>
            </a:endParaRPr>
          </a:p>
          <a:p>
            <a:pPr indent="-298450" lvl="0" marL="457200" marR="0" rtl="0" algn="l">
              <a:lnSpc>
                <a:spcPct val="125000"/>
              </a:lnSpc>
              <a:spcBef>
                <a:spcPts val="0"/>
              </a:spcBef>
              <a:spcAft>
                <a:spcPts val="0"/>
              </a:spcAft>
              <a:buClr>
                <a:srgbClr val="FFFFFF"/>
              </a:buClr>
              <a:buSzPts val="1100"/>
              <a:buFont typeface="Calibri"/>
              <a:buAutoNum type="arabicPeriod"/>
            </a:pPr>
            <a:r>
              <a:rPr b="1" lang="en" sz="1100">
                <a:solidFill>
                  <a:srgbClr val="FFFFFF"/>
                </a:solidFill>
                <a:latin typeface="Calibri"/>
                <a:ea typeface="Calibri"/>
                <a:cs typeface="Calibri"/>
                <a:sym typeface="Calibri"/>
              </a:rPr>
              <a:t>Uji Multikolinearitas </a:t>
            </a:r>
            <a:endParaRPr b="1" sz="1100">
              <a:solidFill>
                <a:srgbClr val="FFFFFF"/>
              </a:solidFill>
              <a:latin typeface="Calibri"/>
              <a:ea typeface="Calibri"/>
              <a:cs typeface="Calibri"/>
              <a:sym typeface="Calibri"/>
            </a:endParaRPr>
          </a:p>
          <a:p>
            <a:pPr indent="0" lvl="0" marL="0" rtl="0" algn="l">
              <a:lnSpc>
                <a:spcPct val="125000"/>
              </a:lnSpc>
              <a:spcBef>
                <a:spcPts val="0"/>
              </a:spcBef>
              <a:spcAft>
                <a:spcPts val="0"/>
              </a:spcAft>
              <a:buNone/>
            </a:pPr>
            <a:r>
              <a:rPr lang="en" sz="1100">
                <a:solidFill>
                  <a:srgbClr val="E6F2EA"/>
                </a:solidFill>
                <a:latin typeface="Calibri"/>
                <a:ea typeface="Calibri"/>
                <a:cs typeface="Calibri"/>
                <a:sym typeface="Calibri"/>
              </a:rPr>
              <a:t>   OLS penuh + fungsi alias() → ditemukan X4 aliased sempurna terhadap X2 &amp; X3</a:t>
            </a:r>
            <a:endParaRPr b="1" sz="1100">
              <a:solidFill>
                <a:srgbClr val="FFFFFF"/>
              </a:solidFill>
              <a:latin typeface="Calibri"/>
              <a:ea typeface="Calibri"/>
              <a:cs typeface="Calibri"/>
              <a:sym typeface="Calibri"/>
            </a:endParaRPr>
          </a:p>
          <a:p>
            <a:pPr indent="-298450" lvl="0" marL="457200" marR="0" rtl="0" algn="l">
              <a:lnSpc>
                <a:spcPct val="125000"/>
              </a:lnSpc>
              <a:spcBef>
                <a:spcPts val="0"/>
              </a:spcBef>
              <a:spcAft>
                <a:spcPts val="0"/>
              </a:spcAft>
              <a:buClr>
                <a:srgbClr val="FFFFFF"/>
              </a:buClr>
              <a:buSzPts val="1100"/>
              <a:buFont typeface="Calibri"/>
              <a:buAutoNum type="arabicPeriod"/>
            </a:pPr>
            <a:r>
              <a:rPr b="1" lang="en" sz="1100">
                <a:solidFill>
                  <a:srgbClr val="FFFFFF"/>
                </a:solidFill>
                <a:latin typeface="Calibri"/>
                <a:ea typeface="Calibri"/>
                <a:cs typeface="Calibri"/>
                <a:sym typeface="Calibri"/>
              </a:rPr>
              <a:t>Diagnostik Residual</a:t>
            </a:r>
            <a:endParaRPr b="1" sz="1100">
              <a:solidFill>
                <a:srgbClr val="FFFFFF"/>
              </a:solidFill>
              <a:latin typeface="Calibri"/>
              <a:ea typeface="Calibri"/>
              <a:cs typeface="Calibri"/>
              <a:sym typeface="Calibri"/>
            </a:endParaRPr>
          </a:p>
          <a:p>
            <a:pPr indent="0" lvl="0" marL="0" rtl="0" algn="l">
              <a:lnSpc>
                <a:spcPct val="125000"/>
              </a:lnSpc>
              <a:spcBef>
                <a:spcPts val="0"/>
              </a:spcBef>
              <a:spcAft>
                <a:spcPts val="0"/>
              </a:spcAft>
              <a:buNone/>
            </a:pPr>
            <a:r>
              <a:rPr lang="en" sz="1100">
                <a:solidFill>
                  <a:srgbClr val="E6F2EA"/>
                </a:solidFill>
                <a:latin typeface="Calibri"/>
                <a:ea typeface="Calibri"/>
                <a:cs typeface="Calibri"/>
                <a:sym typeface="Calibri"/>
              </a:rPr>
              <a:t>Plot actual vs predicted, residual vs predicted, distribusi residual, &amp; 10 observasi galat terbesar</a:t>
            </a:r>
            <a:endParaRPr b="1" sz="1100">
              <a:solidFill>
                <a:srgbClr val="FFFFFF"/>
              </a:solidFill>
              <a:latin typeface="Calibri"/>
              <a:ea typeface="Calibri"/>
              <a:cs typeface="Calibri"/>
              <a:sym typeface="Calibri"/>
            </a:endParaRPr>
          </a:p>
          <a:p>
            <a:pPr indent="-298450" lvl="0" marL="457200" marR="0" rtl="0" algn="l">
              <a:lnSpc>
                <a:spcPct val="125000"/>
              </a:lnSpc>
              <a:spcBef>
                <a:spcPts val="0"/>
              </a:spcBef>
              <a:spcAft>
                <a:spcPts val="0"/>
              </a:spcAft>
              <a:buClr>
                <a:srgbClr val="FFFFFF"/>
              </a:buClr>
              <a:buSzPts val="1100"/>
              <a:buFont typeface="Calibri"/>
              <a:buAutoNum type="arabicPeriod"/>
            </a:pPr>
            <a:r>
              <a:rPr b="1" lang="en" sz="1100">
                <a:solidFill>
                  <a:srgbClr val="FFFFFF"/>
                </a:solidFill>
                <a:latin typeface="Calibri"/>
                <a:ea typeface="Calibri"/>
                <a:cs typeface="Calibri"/>
                <a:sym typeface="Calibri"/>
              </a:rPr>
              <a:t>Kontrol data leakage</a:t>
            </a:r>
            <a:endParaRPr b="0" i="0" sz="11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6F2EA"/>
              </a:buClr>
              <a:buSzPts val="900"/>
              <a:buFont typeface="Calibri"/>
              <a:buNone/>
            </a:pPr>
            <a:r>
              <a:rPr b="0" i="0" lang="en" sz="1100" u="none" cap="none" strike="noStrike">
                <a:solidFill>
                  <a:srgbClr val="E6F2EA"/>
                </a:solidFill>
                <a:latin typeface="Calibri"/>
                <a:ea typeface="Calibri"/>
                <a:cs typeface="Calibri"/>
                <a:sym typeface="Calibri"/>
              </a:rPr>
              <a:t>   Standardisasi dilakukan terisolasi di tiap fold CV</a:t>
            </a:r>
            <a:endParaRPr sz="1100">
              <a:solidFill>
                <a:srgbClr val="E6F2EA"/>
              </a:solidFill>
              <a:latin typeface="Calibri"/>
              <a:ea typeface="Calibri"/>
              <a:cs typeface="Calibri"/>
              <a:sym typeface="Calibri"/>
            </a:endParaRPr>
          </a:p>
        </p:txBody>
      </p:sp>
      <p:sp>
        <p:nvSpPr>
          <p:cNvPr id="133" name="Google Shape;133;p18"/>
          <p:cNvSpPr/>
          <p:nvPr/>
        </p:nvSpPr>
        <p:spPr>
          <a:xfrm>
            <a:off x="342900" y="4903470"/>
            <a:ext cx="65151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F6B66"/>
              </a:buClr>
              <a:buSzPts val="700"/>
              <a:buFont typeface="Calibri"/>
              <a:buNone/>
            </a:pPr>
            <a:r>
              <a:rPr b="0" i="0" lang="en" sz="700" u="none" cap="none" strike="noStrike">
                <a:solidFill>
                  <a:srgbClr val="5F6B66"/>
                </a:solidFill>
                <a:latin typeface="Calibri"/>
                <a:ea typeface="Calibri"/>
                <a:cs typeface="Calibri"/>
                <a:sym typeface="Calibri"/>
              </a:rPr>
              <a:t>Stabilitas &amp; Informativeness Lasso Regression pada Data Energy Efficiency</a:t>
            </a:r>
            <a:endParaRPr b="0" i="0" sz="700" u="none" cap="none" strike="noStrike">
              <a:solidFill>
                <a:schemeClr val="dk1"/>
              </a:solidFill>
              <a:latin typeface="Calibri"/>
              <a:ea typeface="Calibri"/>
              <a:cs typeface="Calibri"/>
              <a:sym typeface="Calibri"/>
            </a:endParaRPr>
          </a:p>
        </p:txBody>
      </p:sp>
      <p:sp>
        <p:nvSpPr>
          <p:cNvPr id="134" name="Google Shape;134;p18"/>
          <p:cNvSpPr/>
          <p:nvPr/>
        </p:nvSpPr>
        <p:spPr>
          <a:xfrm>
            <a:off x="8572500" y="4903470"/>
            <a:ext cx="27432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F6B66"/>
              </a:buClr>
              <a:buSzPts val="700"/>
              <a:buFont typeface="Calibri"/>
              <a:buNone/>
            </a:pPr>
            <a:r>
              <a:rPr b="0" i="0" lang="en" sz="700" u="none" cap="none" strike="noStrike">
                <a:solidFill>
                  <a:srgbClr val="5F6B66"/>
                </a:solidFill>
                <a:latin typeface="Calibri"/>
                <a:ea typeface="Calibri"/>
                <a:cs typeface="Calibri"/>
                <a:sym typeface="Calibri"/>
              </a:rPr>
              <a:t>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19"/>
          <p:cNvSpPr txBox="1"/>
          <p:nvPr/>
        </p:nvSpPr>
        <p:spPr>
          <a:xfrm>
            <a:off x="411480" y="493776"/>
            <a:ext cx="8298180" cy="5486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4332"/>
              </a:buClr>
              <a:buSzPts val="2300"/>
              <a:buFont typeface="Cambria"/>
              <a:buNone/>
            </a:pPr>
            <a:r>
              <a:rPr b="1" i="0" lang="en" sz="2300" u="none" cap="none" strike="noStrike">
                <a:solidFill>
                  <a:srgbClr val="1B4332"/>
                </a:solidFill>
                <a:latin typeface="Cambria"/>
                <a:ea typeface="Cambria"/>
                <a:cs typeface="Cambria"/>
                <a:sym typeface="Cambria"/>
              </a:rPr>
              <a:t>Benchmarking Model</a:t>
            </a:r>
            <a:endParaRPr b="0" i="0" sz="2300" u="none" cap="none" strike="noStrike">
              <a:solidFill>
                <a:schemeClr val="dk1"/>
              </a:solidFill>
              <a:latin typeface="Calibri"/>
              <a:ea typeface="Calibri"/>
              <a:cs typeface="Calibri"/>
              <a:sym typeface="Calibri"/>
            </a:endParaRPr>
          </a:p>
        </p:txBody>
      </p:sp>
      <p:graphicFrame>
        <p:nvGraphicFramePr>
          <p:cNvPr id="141" name="Google Shape;141;p19"/>
          <p:cNvGraphicFramePr/>
          <p:nvPr/>
        </p:nvGraphicFramePr>
        <p:xfrm>
          <a:off x="2091730" y="1290170"/>
          <a:ext cx="3000000" cy="3000000"/>
        </p:xfrm>
        <a:graphic>
          <a:graphicData uri="http://schemas.openxmlformats.org/drawingml/2006/table">
            <a:tbl>
              <a:tblPr>
                <a:noFill/>
                <a:tableStyleId>{8691579F-E85D-4C31-9117-3D4B04958B47}</a:tableStyleId>
              </a:tblPr>
              <a:tblGrid>
                <a:gridCol w="1500625"/>
                <a:gridCol w="829275"/>
                <a:gridCol w="829275"/>
                <a:gridCol w="829275"/>
                <a:gridCol w="829275"/>
              </a:tblGrid>
              <a:tr h="461625">
                <a:tc>
                  <a:txBody>
                    <a:bodyPr/>
                    <a:lstStyle/>
                    <a:p>
                      <a:pPr indent="0" lvl="0" marL="0" marR="0" rtl="0" algn="l">
                        <a:lnSpc>
                          <a:spcPct val="100000"/>
                        </a:lnSpc>
                        <a:spcBef>
                          <a:spcPts val="0"/>
                        </a:spcBef>
                        <a:spcAft>
                          <a:spcPts val="0"/>
                        </a:spcAft>
                        <a:buClr>
                          <a:srgbClr val="FFFFFF"/>
                        </a:buClr>
                        <a:buSzPts val="900"/>
                        <a:buFont typeface="Calibri"/>
                        <a:buNone/>
                      </a:pPr>
                      <a:r>
                        <a:rPr b="1" lang="en" sz="1200" u="none" cap="none" strike="noStrike">
                          <a:solidFill>
                            <a:srgbClr val="FFFFFF"/>
                          </a:solidFill>
                          <a:latin typeface="Calibri"/>
                          <a:ea typeface="Calibri"/>
                          <a:cs typeface="Calibri"/>
                          <a:sym typeface="Calibri"/>
                        </a:rPr>
                        <a:t>Model</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1B4332"/>
                    </a:solidFill>
                  </a:tcPr>
                </a:tc>
                <a:tc>
                  <a:txBody>
                    <a:bodyPr/>
                    <a:lstStyle/>
                    <a:p>
                      <a:pPr indent="0" lvl="0" marL="0" marR="0" rtl="0" algn="ctr">
                        <a:lnSpc>
                          <a:spcPct val="100000"/>
                        </a:lnSpc>
                        <a:spcBef>
                          <a:spcPts val="0"/>
                        </a:spcBef>
                        <a:spcAft>
                          <a:spcPts val="0"/>
                        </a:spcAft>
                        <a:buClr>
                          <a:srgbClr val="FFFFFF"/>
                        </a:buClr>
                        <a:buSzPts val="900"/>
                        <a:buFont typeface="Calibri"/>
                        <a:buNone/>
                      </a:pPr>
                      <a:r>
                        <a:rPr b="1" lang="en" sz="1200" u="none" cap="none" strike="noStrike">
                          <a:solidFill>
                            <a:srgbClr val="FFFFFF"/>
                          </a:solidFill>
                          <a:latin typeface="Calibri"/>
                          <a:ea typeface="Calibri"/>
                          <a:cs typeface="Calibri"/>
                          <a:sym typeface="Calibri"/>
                        </a:rPr>
                        <a:t>RMSE (Y1)</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1B4332"/>
                    </a:solidFill>
                  </a:tcPr>
                </a:tc>
                <a:tc>
                  <a:txBody>
                    <a:bodyPr/>
                    <a:lstStyle/>
                    <a:p>
                      <a:pPr indent="0" lvl="0" marL="0" marR="0" rtl="0" algn="ctr">
                        <a:lnSpc>
                          <a:spcPct val="100000"/>
                        </a:lnSpc>
                        <a:spcBef>
                          <a:spcPts val="0"/>
                        </a:spcBef>
                        <a:spcAft>
                          <a:spcPts val="0"/>
                        </a:spcAft>
                        <a:buClr>
                          <a:srgbClr val="FFFFFF"/>
                        </a:buClr>
                        <a:buSzPts val="900"/>
                        <a:buFont typeface="Calibri"/>
                        <a:buNone/>
                      </a:pPr>
                      <a:r>
                        <a:rPr b="1" lang="en" sz="1200" u="none" cap="none" strike="noStrike">
                          <a:solidFill>
                            <a:srgbClr val="FFFFFF"/>
                          </a:solidFill>
                          <a:latin typeface="Calibri"/>
                          <a:ea typeface="Calibri"/>
                          <a:cs typeface="Calibri"/>
                          <a:sym typeface="Calibri"/>
                        </a:rPr>
                        <a:t>R² (Y1)</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1B4332"/>
                    </a:solidFill>
                  </a:tcPr>
                </a:tc>
                <a:tc>
                  <a:txBody>
                    <a:bodyPr/>
                    <a:lstStyle/>
                    <a:p>
                      <a:pPr indent="0" lvl="0" marL="0" marR="0" rtl="0" algn="ctr">
                        <a:lnSpc>
                          <a:spcPct val="100000"/>
                        </a:lnSpc>
                        <a:spcBef>
                          <a:spcPts val="0"/>
                        </a:spcBef>
                        <a:spcAft>
                          <a:spcPts val="0"/>
                        </a:spcAft>
                        <a:buClr>
                          <a:srgbClr val="FFFFFF"/>
                        </a:buClr>
                        <a:buSzPts val="900"/>
                        <a:buFont typeface="Calibri"/>
                        <a:buNone/>
                      </a:pPr>
                      <a:r>
                        <a:rPr b="1" lang="en" sz="1200" u="none" cap="none" strike="noStrike">
                          <a:solidFill>
                            <a:srgbClr val="FFFFFF"/>
                          </a:solidFill>
                          <a:latin typeface="Calibri"/>
                          <a:ea typeface="Calibri"/>
                          <a:cs typeface="Calibri"/>
                          <a:sym typeface="Calibri"/>
                        </a:rPr>
                        <a:t>RMSE (Y2)</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1B4332"/>
                    </a:solidFill>
                  </a:tcPr>
                </a:tc>
                <a:tc>
                  <a:txBody>
                    <a:bodyPr/>
                    <a:lstStyle/>
                    <a:p>
                      <a:pPr indent="0" lvl="0" marL="0" marR="0" rtl="0" algn="ctr">
                        <a:lnSpc>
                          <a:spcPct val="100000"/>
                        </a:lnSpc>
                        <a:spcBef>
                          <a:spcPts val="0"/>
                        </a:spcBef>
                        <a:spcAft>
                          <a:spcPts val="0"/>
                        </a:spcAft>
                        <a:buClr>
                          <a:srgbClr val="FFFFFF"/>
                        </a:buClr>
                        <a:buSzPts val="900"/>
                        <a:buFont typeface="Calibri"/>
                        <a:buNone/>
                      </a:pPr>
                      <a:r>
                        <a:rPr b="1" lang="en" sz="1200" u="none" cap="none" strike="noStrike">
                          <a:solidFill>
                            <a:srgbClr val="FFFFFF"/>
                          </a:solidFill>
                          <a:latin typeface="Calibri"/>
                          <a:ea typeface="Calibri"/>
                          <a:cs typeface="Calibri"/>
                          <a:sym typeface="Calibri"/>
                        </a:rPr>
                        <a:t>R² (Y2)</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1B4332"/>
                    </a:solidFill>
                  </a:tcPr>
                </a:tc>
              </a:tr>
              <a:tr h="400875">
                <a:tc>
                  <a:txBody>
                    <a:bodyPr/>
                    <a:lstStyle/>
                    <a:p>
                      <a:pPr indent="0" lvl="0" marL="0" marR="0" rtl="0" algn="l">
                        <a:lnSpc>
                          <a:spcPct val="100000"/>
                        </a:lnSpc>
                        <a:spcBef>
                          <a:spcPts val="0"/>
                        </a:spcBef>
                        <a:spcAft>
                          <a:spcPts val="0"/>
                        </a:spcAft>
                        <a:buClr>
                          <a:srgbClr val="000000"/>
                        </a:buClr>
                        <a:buSzPts val="900"/>
                        <a:buFont typeface="Calibri"/>
                        <a:buNone/>
                      </a:pPr>
                      <a:r>
                        <a:rPr b="1" lang="en" sz="1200" u="none" cap="none" strike="noStrike">
                          <a:solidFill>
                            <a:srgbClr val="000000"/>
                          </a:solidFill>
                          <a:latin typeface="Calibri"/>
                          <a:ea typeface="Calibri"/>
                          <a:cs typeface="Calibri"/>
                          <a:sym typeface="Calibri"/>
                        </a:rPr>
                        <a:t>Lasso (λ optimal = 0.0001)</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DDEEE3"/>
                    </a:solidFill>
                  </a:tcPr>
                </a:tc>
                <a:tc>
                  <a:txBody>
                    <a:bodyPr/>
                    <a:lstStyle/>
                    <a:p>
                      <a:pPr indent="0" lvl="0" marL="0" marR="0" rtl="0" algn="ctr">
                        <a:lnSpc>
                          <a:spcPct val="100000"/>
                        </a:lnSpc>
                        <a:spcBef>
                          <a:spcPts val="0"/>
                        </a:spcBef>
                        <a:spcAft>
                          <a:spcPts val="0"/>
                        </a:spcAft>
                        <a:buClr>
                          <a:srgbClr val="000000"/>
                        </a:buClr>
                        <a:buSzPts val="900"/>
                        <a:buFont typeface="Calibri"/>
                        <a:buNone/>
                      </a:pPr>
                      <a:r>
                        <a:rPr lang="en" sz="1200" u="none" cap="none" strike="noStrike">
                          <a:solidFill>
                            <a:srgbClr val="000000"/>
                          </a:solidFill>
                          <a:latin typeface="Calibri"/>
                          <a:ea typeface="Calibri"/>
                          <a:cs typeface="Calibri"/>
                          <a:sym typeface="Calibri"/>
                        </a:rPr>
                        <a:t>2,96</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DDEEE3"/>
                    </a:solidFill>
                  </a:tcPr>
                </a:tc>
                <a:tc>
                  <a:txBody>
                    <a:bodyPr/>
                    <a:lstStyle/>
                    <a:p>
                      <a:pPr indent="0" lvl="0" marL="0" marR="0" rtl="0" algn="ctr">
                        <a:lnSpc>
                          <a:spcPct val="100000"/>
                        </a:lnSpc>
                        <a:spcBef>
                          <a:spcPts val="0"/>
                        </a:spcBef>
                        <a:spcAft>
                          <a:spcPts val="0"/>
                        </a:spcAft>
                        <a:buClr>
                          <a:srgbClr val="000000"/>
                        </a:buClr>
                        <a:buSzPts val="900"/>
                        <a:buFont typeface="Calibri"/>
                        <a:buNone/>
                      </a:pPr>
                      <a:r>
                        <a:rPr lang="en" sz="1200" u="none" cap="none" strike="noStrike">
                          <a:solidFill>
                            <a:srgbClr val="000000"/>
                          </a:solidFill>
                          <a:latin typeface="Calibri"/>
                          <a:ea typeface="Calibri"/>
                          <a:cs typeface="Calibri"/>
                          <a:sym typeface="Calibri"/>
                        </a:rPr>
                        <a:t>0,914</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DDEEE3"/>
                    </a:solidFill>
                  </a:tcPr>
                </a:tc>
                <a:tc>
                  <a:txBody>
                    <a:bodyPr/>
                    <a:lstStyle/>
                    <a:p>
                      <a:pPr indent="0" lvl="0" marL="0" marR="0" rtl="0" algn="ctr">
                        <a:lnSpc>
                          <a:spcPct val="100000"/>
                        </a:lnSpc>
                        <a:spcBef>
                          <a:spcPts val="0"/>
                        </a:spcBef>
                        <a:spcAft>
                          <a:spcPts val="0"/>
                        </a:spcAft>
                        <a:buClr>
                          <a:srgbClr val="000000"/>
                        </a:buClr>
                        <a:buSzPts val="900"/>
                        <a:buFont typeface="Calibri"/>
                        <a:buNone/>
                      </a:pPr>
                      <a:r>
                        <a:rPr lang="en" sz="1200" u="none" cap="none" strike="noStrike">
                          <a:solidFill>
                            <a:srgbClr val="000000"/>
                          </a:solidFill>
                          <a:latin typeface="Calibri"/>
                          <a:ea typeface="Calibri"/>
                          <a:cs typeface="Calibri"/>
                          <a:sym typeface="Calibri"/>
                        </a:rPr>
                        <a:t>3,62</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DDEEE3"/>
                    </a:solidFill>
                  </a:tcPr>
                </a:tc>
                <a:tc>
                  <a:txBody>
                    <a:bodyPr/>
                    <a:lstStyle/>
                    <a:p>
                      <a:pPr indent="0" lvl="0" marL="0" marR="0" rtl="0" algn="ctr">
                        <a:lnSpc>
                          <a:spcPct val="100000"/>
                        </a:lnSpc>
                        <a:spcBef>
                          <a:spcPts val="0"/>
                        </a:spcBef>
                        <a:spcAft>
                          <a:spcPts val="0"/>
                        </a:spcAft>
                        <a:buClr>
                          <a:srgbClr val="000000"/>
                        </a:buClr>
                        <a:buSzPts val="900"/>
                        <a:buFont typeface="Calibri"/>
                        <a:buNone/>
                      </a:pPr>
                      <a:r>
                        <a:rPr lang="en" sz="1200" u="none" cap="none" strike="noStrike">
                          <a:solidFill>
                            <a:srgbClr val="000000"/>
                          </a:solidFill>
                          <a:latin typeface="Calibri"/>
                          <a:ea typeface="Calibri"/>
                          <a:cs typeface="Calibri"/>
                          <a:sym typeface="Calibri"/>
                        </a:rPr>
                        <a:t>0,863</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DDEEE3"/>
                    </a:solidFill>
                  </a:tcPr>
                </a:tc>
              </a:tr>
              <a:tr h="400875">
                <a:tc>
                  <a:txBody>
                    <a:bodyPr/>
                    <a:lstStyle/>
                    <a:p>
                      <a:pPr indent="0" lvl="0" marL="0" marR="0" rtl="0" algn="l">
                        <a:lnSpc>
                          <a:spcPct val="100000"/>
                        </a:lnSpc>
                        <a:spcBef>
                          <a:spcPts val="0"/>
                        </a:spcBef>
                        <a:spcAft>
                          <a:spcPts val="0"/>
                        </a:spcAft>
                        <a:buClr>
                          <a:srgbClr val="000000"/>
                        </a:buClr>
                        <a:buSzPts val="900"/>
                        <a:buFont typeface="Calibri"/>
                        <a:buNone/>
                      </a:pPr>
                      <a:r>
                        <a:rPr lang="en" sz="1200" u="none" cap="none" strike="noStrike">
                          <a:solidFill>
                            <a:srgbClr val="000000"/>
                          </a:solidFill>
                          <a:latin typeface="Calibri"/>
                          <a:ea typeface="Calibri"/>
                          <a:cs typeface="Calibri"/>
                          <a:sym typeface="Calibri"/>
                        </a:rPr>
                        <a:t>Ridge (λ optimal = 0.0001)</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900"/>
                        <a:buFont typeface="Calibri"/>
                        <a:buNone/>
                      </a:pPr>
                      <a:r>
                        <a:rPr lang="en" sz="1200" u="none" cap="none" strike="noStrike">
                          <a:solidFill>
                            <a:srgbClr val="000000"/>
                          </a:solidFill>
                          <a:latin typeface="Calibri"/>
                          <a:ea typeface="Calibri"/>
                          <a:cs typeface="Calibri"/>
                          <a:sym typeface="Calibri"/>
                        </a:rPr>
                        <a:t>3,28</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900"/>
                        <a:buFont typeface="Calibri"/>
                        <a:buNone/>
                      </a:pPr>
                      <a:r>
                        <a:rPr lang="en" sz="1200" u="none" cap="none" strike="noStrike">
                          <a:solidFill>
                            <a:srgbClr val="000000"/>
                          </a:solidFill>
                          <a:latin typeface="Calibri"/>
                          <a:ea typeface="Calibri"/>
                          <a:cs typeface="Calibri"/>
                          <a:sym typeface="Calibri"/>
                        </a:rPr>
                        <a:t>0,895</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900"/>
                        <a:buFont typeface="Calibri"/>
                        <a:buNone/>
                      </a:pPr>
                      <a:r>
                        <a:rPr lang="en" sz="1200" u="none" cap="none" strike="noStrike">
                          <a:solidFill>
                            <a:srgbClr val="000000"/>
                          </a:solidFill>
                          <a:latin typeface="Calibri"/>
                          <a:ea typeface="Calibri"/>
                          <a:cs typeface="Calibri"/>
                          <a:sym typeface="Calibri"/>
                        </a:rPr>
                        <a:t>3,89</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900"/>
                        <a:buFont typeface="Calibri"/>
                        <a:buNone/>
                      </a:pPr>
                      <a:r>
                        <a:rPr lang="en" sz="1200" u="none" cap="none" strike="noStrike">
                          <a:solidFill>
                            <a:srgbClr val="000000"/>
                          </a:solidFill>
                          <a:latin typeface="Calibri"/>
                          <a:ea typeface="Calibri"/>
                          <a:cs typeface="Calibri"/>
                          <a:sym typeface="Calibri"/>
                        </a:rPr>
                        <a:t>0,846</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F5F5F5"/>
                    </a:solidFill>
                  </a:tcPr>
                </a:tc>
              </a:tr>
              <a:tr h="461625">
                <a:tc>
                  <a:txBody>
                    <a:bodyPr/>
                    <a:lstStyle/>
                    <a:p>
                      <a:pPr indent="0" lvl="0" marL="0" marR="0" rtl="0" algn="l">
                        <a:lnSpc>
                          <a:spcPct val="100000"/>
                        </a:lnSpc>
                        <a:spcBef>
                          <a:spcPts val="0"/>
                        </a:spcBef>
                        <a:spcAft>
                          <a:spcPts val="0"/>
                        </a:spcAft>
                        <a:buClr>
                          <a:srgbClr val="000000"/>
                        </a:buClr>
                        <a:buSzPts val="900"/>
                        <a:buFont typeface="Calibri"/>
                        <a:buNone/>
                      </a:pPr>
                      <a:r>
                        <a:rPr lang="en" sz="1200" u="none" cap="none" strike="noStrike">
                          <a:solidFill>
                            <a:srgbClr val="000000"/>
                          </a:solidFill>
                          <a:latin typeface="Calibri"/>
                          <a:ea typeface="Calibri"/>
                          <a:cs typeface="Calibri"/>
                          <a:sym typeface="Calibri"/>
                        </a:rPr>
                        <a:t>Linear Regression (OLS)</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900"/>
                        <a:buFont typeface="Calibri"/>
                        <a:buNone/>
                      </a:pPr>
                      <a:r>
                        <a:rPr lang="en" sz="1200" u="none" cap="none" strike="noStrike">
                          <a:solidFill>
                            <a:srgbClr val="000000"/>
                          </a:solidFill>
                          <a:latin typeface="Calibri"/>
                          <a:ea typeface="Calibri"/>
                          <a:cs typeface="Calibri"/>
                          <a:sym typeface="Calibri"/>
                        </a:rPr>
                        <a:t>2,95</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900"/>
                        <a:buFont typeface="Calibri"/>
                        <a:buNone/>
                      </a:pPr>
                      <a:r>
                        <a:rPr lang="en" sz="1200" u="none" cap="none" strike="noStrike">
                          <a:solidFill>
                            <a:srgbClr val="000000"/>
                          </a:solidFill>
                          <a:latin typeface="Calibri"/>
                          <a:ea typeface="Calibri"/>
                          <a:cs typeface="Calibri"/>
                          <a:sym typeface="Calibri"/>
                        </a:rPr>
                        <a:t>0,915</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900"/>
                        <a:buFont typeface="Calibri"/>
                        <a:buNone/>
                      </a:pPr>
                      <a:r>
                        <a:rPr lang="en" sz="1200" u="none" cap="none" strike="noStrike">
                          <a:solidFill>
                            <a:srgbClr val="000000"/>
                          </a:solidFill>
                          <a:latin typeface="Calibri"/>
                          <a:ea typeface="Calibri"/>
                          <a:cs typeface="Calibri"/>
                          <a:sym typeface="Calibri"/>
                        </a:rPr>
                        <a:t>3,63</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900"/>
                        <a:buFont typeface="Calibri"/>
                        <a:buNone/>
                      </a:pPr>
                      <a:r>
                        <a:rPr lang="en" sz="1200" u="none" cap="none" strike="noStrike">
                          <a:solidFill>
                            <a:srgbClr val="000000"/>
                          </a:solidFill>
                          <a:latin typeface="Calibri"/>
                          <a:ea typeface="Calibri"/>
                          <a:cs typeface="Calibri"/>
                          <a:sym typeface="Calibri"/>
                        </a:rPr>
                        <a:t>0,863</a:t>
                      </a:r>
                      <a:endParaRPr sz="1200" u="none" cap="none" strike="noStrike">
                        <a:latin typeface="Calibri"/>
                        <a:ea typeface="Calibri"/>
                        <a:cs typeface="Calibri"/>
                        <a:sym typeface="Calibri"/>
                      </a:endParaRPr>
                    </a:p>
                  </a:txBody>
                  <a:tcPr marT="34300" marB="34300" marR="68600" marL="68600">
                    <a:lnL cap="flat" cmpd="sng" w="9525">
                      <a:solidFill>
                        <a:srgbClr val="E0E6E1"/>
                      </a:solidFill>
                      <a:prstDash val="solid"/>
                      <a:round/>
                      <a:headEnd len="sm" w="sm" type="none"/>
                      <a:tailEnd len="sm" w="sm" type="none"/>
                    </a:lnL>
                    <a:lnR cap="flat" cmpd="sng" w="9525">
                      <a:solidFill>
                        <a:srgbClr val="E0E6E1"/>
                      </a:solidFill>
                      <a:prstDash val="solid"/>
                      <a:round/>
                      <a:headEnd len="sm" w="sm" type="none"/>
                      <a:tailEnd len="sm" w="sm" type="none"/>
                    </a:lnR>
                    <a:lnT cap="flat" cmpd="sng" w="9525">
                      <a:solidFill>
                        <a:srgbClr val="E0E6E1"/>
                      </a:solidFill>
                      <a:prstDash val="solid"/>
                      <a:round/>
                      <a:headEnd len="sm" w="sm" type="none"/>
                      <a:tailEnd len="sm" w="sm" type="none"/>
                    </a:lnT>
                    <a:lnB cap="flat" cmpd="sng" w="9525">
                      <a:solidFill>
                        <a:srgbClr val="E0E6E1"/>
                      </a:solidFill>
                      <a:prstDash val="solid"/>
                      <a:round/>
                      <a:headEnd len="sm" w="sm" type="none"/>
                      <a:tailEnd len="sm" w="sm" type="none"/>
                    </a:lnB>
                    <a:solidFill>
                      <a:srgbClr val="F5F5F5"/>
                    </a:solidFill>
                  </a:tcPr>
                </a:tc>
              </a:tr>
            </a:tbl>
          </a:graphicData>
        </a:graphic>
      </p:graphicFrame>
      <p:sp>
        <p:nvSpPr>
          <p:cNvPr id="142" name="Google Shape;142;p19"/>
          <p:cNvSpPr/>
          <p:nvPr/>
        </p:nvSpPr>
        <p:spPr>
          <a:xfrm>
            <a:off x="2447839" y="3206288"/>
            <a:ext cx="41055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F6B66"/>
              </a:buClr>
              <a:buSzPts val="900"/>
              <a:buFont typeface="Calibri"/>
              <a:buNone/>
            </a:pPr>
            <a:r>
              <a:rPr b="1" i="1" lang="en" sz="1200" u="none" cap="none" strike="noStrike">
                <a:solidFill>
                  <a:srgbClr val="5F6B66"/>
                </a:solidFill>
                <a:latin typeface="Calibri"/>
                <a:ea typeface="Calibri"/>
                <a:cs typeface="Calibri"/>
                <a:sym typeface="Calibri"/>
              </a:rPr>
              <a:t>Lasso </a:t>
            </a:r>
            <a:r>
              <a:rPr b="1" i="1" lang="en" sz="1200">
                <a:solidFill>
                  <a:srgbClr val="5F6B66"/>
                </a:solidFill>
                <a:latin typeface="Calibri"/>
                <a:ea typeface="Calibri"/>
                <a:cs typeface="Calibri"/>
                <a:sym typeface="Calibri"/>
              </a:rPr>
              <a:t>memiliki hasil yang hampir sama dengan OLS, dan memiliki hasil yang lebih baik dibandingkan dengan Ridge</a:t>
            </a:r>
            <a:endParaRPr b="1" i="0" sz="1100" u="none" cap="none" strike="noStrike">
              <a:solidFill>
                <a:schemeClr val="dk1"/>
              </a:solidFill>
              <a:latin typeface="Calibri"/>
              <a:ea typeface="Calibri"/>
              <a:cs typeface="Calibri"/>
              <a:sym typeface="Calibri"/>
            </a:endParaRPr>
          </a:p>
        </p:txBody>
      </p:sp>
      <p:sp>
        <p:nvSpPr>
          <p:cNvPr id="143" name="Google Shape;143;p19"/>
          <p:cNvSpPr/>
          <p:nvPr/>
        </p:nvSpPr>
        <p:spPr>
          <a:xfrm>
            <a:off x="2091740" y="3740325"/>
            <a:ext cx="4817700" cy="599700"/>
          </a:xfrm>
          <a:prstGeom prst="rect">
            <a:avLst/>
          </a:prstGeom>
          <a:noFill/>
          <a:ln>
            <a:noFill/>
          </a:ln>
        </p:spPr>
        <p:txBody>
          <a:bodyPr anchorCtr="0" anchor="t" bIns="34275" lIns="68575" spcFirstLastPara="1" rIns="68575" wrap="square" tIns="34275">
            <a:noAutofit/>
          </a:bodyPr>
          <a:lstStyle/>
          <a:p>
            <a:pPr indent="0" lvl="0" marL="0" marR="0" rtl="0" algn="l">
              <a:lnSpc>
                <a:spcPct val="130000"/>
              </a:lnSpc>
              <a:spcBef>
                <a:spcPts val="0"/>
              </a:spcBef>
              <a:spcAft>
                <a:spcPts val="0"/>
              </a:spcAft>
              <a:buClr>
                <a:srgbClr val="1B1B1B"/>
              </a:buClr>
              <a:buSzPts val="900"/>
              <a:buFont typeface="Calibri"/>
              <a:buNone/>
            </a:pPr>
            <a:r>
              <a:rPr lang="en" sz="1200">
                <a:solidFill>
                  <a:srgbClr val="1B1B1B"/>
                </a:solidFill>
                <a:latin typeface="Calibri"/>
                <a:ea typeface="Calibri"/>
                <a:cs typeface="Calibri"/>
                <a:sym typeface="Calibri"/>
              </a:rPr>
              <a:t>Lasso membuat koefisien X3 (Wall Area) menjadi 0, sehingga X3 tidak masuk dalam model.</a:t>
            </a:r>
            <a:endParaRPr sz="1200">
              <a:solidFill>
                <a:srgbClr val="1B1B1B"/>
              </a:solidFill>
              <a:latin typeface="Calibri"/>
              <a:ea typeface="Calibri"/>
              <a:cs typeface="Calibri"/>
              <a:sym typeface="Calibri"/>
            </a:endParaRPr>
          </a:p>
          <a:p>
            <a:pPr indent="0" lvl="0" marL="0" marR="0" rtl="0" algn="l">
              <a:lnSpc>
                <a:spcPct val="130000"/>
              </a:lnSpc>
              <a:spcBef>
                <a:spcPts val="0"/>
              </a:spcBef>
              <a:spcAft>
                <a:spcPts val="0"/>
              </a:spcAft>
              <a:buClr>
                <a:srgbClr val="1B1B1B"/>
              </a:buClr>
              <a:buSzPts val="900"/>
              <a:buFont typeface="Calibri"/>
              <a:buNone/>
            </a:pPr>
            <a:r>
              <a:rPr lang="en" sz="1200">
                <a:solidFill>
                  <a:srgbClr val="1B1B1B"/>
                </a:solidFill>
                <a:latin typeface="Calibri"/>
                <a:ea typeface="Calibri"/>
                <a:cs typeface="Calibri"/>
                <a:sym typeface="Calibri"/>
              </a:rPr>
              <a:t>Ridge tetap mempertahankan X3 dengan koefisien tidak sama dengan 0 karena penalti L2 hanya mengecilkan koefisien tanpa menjadikannya nol.</a:t>
            </a:r>
            <a:endParaRPr sz="1200">
              <a:solidFill>
                <a:srgbClr val="1B1B1B"/>
              </a:solidFill>
              <a:latin typeface="Calibri"/>
              <a:ea typeface="Calibri"/>
              <a:cs typeface="Calibri"/>
              <a:sym typeface="Calibri"/>
            </a:endParaRPr>
          </a:p>
        </p:txBody>
      </p:sp>
      <p:sp>
        <p:nvSpPr>
          <p:cNvPr id="144" name="Google Shape;144;p19"/>
          <p:cNvSpPr/>
          <p:nvPr/>
        </p:nvSpPr>
        <p:spPr>
          <a:xfrm>
            <a:off x="342900" y="4903470"/>
            <a:ext cx="65151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F6B66"/>
              </a:buClr>
              <a:buSzPts val="700"/>
              <a:buFont typeface="Calibri"/>
              <a:buNone/>
            </a:pPr>
            <a:r>
              <a:rPr b="0" i="0" lang="en" sz="700" u="none" cap="none" strike="noStrike">
                <a:solidFill>
                  <a:srgbClr val="5F6B66"/>
                </a:solidFill>
                <a:latin typeface="Calibri"/>
                <a:ea typeface="Calibri"/>
                <a:cs typeface="Calibri"/>
                <a:sym typeface="Calibri"/>
              </a:rPr>
              <a:t>Stabilitas &amp; Informativeness Lasso Regression pada Data Energy Efficiency</a:t>
            </a:r>
            <a:endParaRPr b="0" i="0" sz="700" u="none" cap="none" strike="noStrike">
              <a:solidFill>
                <a:schemeClr val="dk1"/>
              </a:solidFill>
              <a:latin typeface="Calibri"/>
              <a:ea typeface="Calibri"/>
              <a:cs typeface="Calibri"/>
              <a:sym typeface="Calibri"/>
            </a:endParaRPr>
          </a:p>
        </p:txBody>
      </p:sp>
      <p:sp>
        <p:nvSpPr>
          <p:cNvPr id="145" name="Google Shape;145;p19"/>
          <p:cNvSpPr/>
          <p:nvPr/>
        </p:nvSpPr>
        <p:spPr>
          <a:xfrm>
            <a:off x="8572500" y="4903470"/>
            <a:ext cx="27432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F6B66"/>
              </a:buClr>
              <a:buSzPts val="700"/>
              <a:buFont typeface="Calibri"/>
              <a:buNone/>
            </a:pPr>
            <a:r>
              <a:rPr b="0" i="0" lang="en" sz="700" u="none" cap="none" strike="noStrike">
                <a:solidFill>
                  <a:srgbClr val="5F6B66"/>
                </a:solidFill>
                <a:latin typeface="Calibri"/>
                <a:ea typeface="Calibri"/>
                <a:cs typeface="Calibri"/>
                <a:sym typeface="Calibri"/>
              </a:rPr>
              <a:t>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0"/>
          <p:cNvPicPr preferRelativeResize="0"/>
          <p:nvPr/>
        </p:nvPicPr>
        <p:blipFill>
          <a:blip r:embed="rId3">
            <a:alphaModFix/>
          </a:blip>
          <a:stretch>
            <a:fillRect/>
          </a:stretch>
        </p:blipFill>
        <p:spPr>
          <a:xfrm>
            <a:off x="152400" y="302875"/>
            <a:ext cx="8839200" cy="659737"/>
          </a:xfrm>
          <a:prstGeom prst="rect">
            <a:avLst/>
          </a:prstGeom>
          <a:noFill/>
          <a:ln>
            <a:noFill/>
          </a:ln>
        </p:spPr>
      </p:pic>
      <p:sp>
        <p:nvSpPr>
          <p:cNvPr id="151" name="Google Shape;151;p20"/>
          <p:cNvSpPr txBox="1"/>
          <p:nvPr/>
        </p:nvSpPr>
        <p:spPr>
          <a:xfrm>
            <a:off x="275325" y="962600"/>
            <a:ext cx="8154300" cy="6648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 sz="1300">
                <a:solidFill>
                  <a:srgbClr val="1B4332"/>
                </a:solidFill>
                <a:latin typeface="Consolas"/>
                <a:ea typeface="Consolas"/>
                <a:cs typeface="Consolas"/>
                <a:sym typeface="Consolas"/>
              </a:rPr>
              <a:t>Ŷ₁ = 22,3 + 7,83X₅ − 5,13X₄ − 4,63X₁ + 2,63X₇ + 0,333X₈ − 0,0399X₆ − 0,000883X₂</a:t>
            </a:r>
            <a:endParaRPr sz="1300">
              <a:solidFill>
                <a:srgbClr val="1B4332"/>
              </a:solidFill>
              <a:latin typeface="Consolas"/>
              <a:ea typeface="Consolas"/>
              <a:cs typeface="Consolas"/>
              <a:sym typeface="Consolas"/>
            </a:endParaRPr>
          </a:p>
          <a:p>
            <a:pPr indent="0" lvl="0" marL="0" rtl="0" algn="l">
              <a:lnSpc>
                <a:spcPct val="140000"/>
              </a:lnSpc>
              <a:spcBef>
                <a:spcPts val="0"/>
              </a:spcBef>
              <a:spcAft>
                <a:spcPts val="0"/>
              </a:spcAft>
              <a:buNone/>
            </a:pPr>
            <a:r>
              <a:rPr lang="en" sz="1300">
                <a:solidFill>
                  <a:srgbClr val="1B4332"/>
                </a:solidFill>
                <a:latin typeface="Consolas"/>
                <a:ea typeface="Consolas"/>
                <a:cs typeface="Consolas"/>
                <a:sym typeface="Consolas"/>
              </a:rPr>
              <a:t>Ŷ₂ = 24,5 + 7,69X₅ − 6,92X₁ − 3,79X₄ − 3,33X₂ + 1,96X₇ + 0,102X₈ + 0,0330X₆</a:t>
            </a:r>
            <a:endParaRPr sz="1300">
              <a:solidFill>
                <a:srgbClr val="1B4332"/>
              </a:solidFill>
              <a:latin typeface="Consolas"/>
              <a:ea typeface="Consolas"/>
              <a:cs typeface="Consolas"/>
              <a:sym typeface="Consolas"/>
            </a:endParaRPr>
          </a:p>
        </p:txBody>
      </p:sp>
      <p:pic>
        <p:nvPicPr>
          <p:cNvPr id="152" name="Google Shape;152;p20"/>
          <p:cNvPicPr preferRelativeResize="0"/>
          <p:nvPr/>
        </p:nvPicPr>
        <p:blipFill>
          <a:blip r:embed="rId4">
            <a:alphaModFix/>
          </a:blip>
          <a:stretch>
            <a:fillRect/>
          </a:stretch>
        </p:blipFill>
        <p:spPr>
          <a:xfrm>
            <a:off x="669900" y="1764125"/>
            <a:ext cx="2748650" cy="447275"/>
          </a:xfrm>
          <a:prstGeom prst="rect">
            <a:avLst/>
          </a:prstGeom>
          <a:noFill/>
          <a:ln>
            <a:noFill/>
          </a:ln>
        </p:spPr>
      </p:pic>
      <p:pic>
        <p:nvPicPr>
          <p:cNvPr id="153" name="Google Shape;153;p20"/>
          <p:cNvPicPr preferRelativeResize="0"/>
          <p:nvPr/>
        </p:nvPicPr>
        <p:blipFill>
          <a:blip r:embed="rId5">
            <a:alphaModFix/>
          </a:blip>
          <a:stretch>
            <a:fillRect/>
          </a:stretch>
        </p:blipFill>
        <p:spPr>
          <a:xfrm>
            <a:off x="275325" y="2211400"/>
            <a:ext cx="4194225" cy="2694625"/>
          </a:xfrm>
          <a:prstGeom prst="rect">
            <a:avLst/>
          </a:prstGeom>
          <a:noFill/>
          <a:ln>
            <a:noFill/>
          </a:ln>
        </p:spPr>
      </p:pic>
      <p:pic>
        <p:nvPicPr>
          <p:cNvPr id="154" name="Google Shape;154;p20"/>
          <p:cNvPicPr preferRelativeResize="0"/>
          <p:nvPr/>
        </p:nvPicPr>
        <p:blipFill>
          <a:blip r:embed="rId6">
            <a:alphaModFix/>
          </a:blip>
          <a:stretch>
            <a:fillRect/>
          </a:stretch>
        </p:blipFill>
        <p:spPr>
          <a:xfrm>
            <a:off x="5114775" y="1764125"/>
            <a:ext cx="8458200" cy="590550"/>
          </a:xfrm>
          <a:prstGeom prst="rect">
            <a:avLst/>
          </a:prstGeom>
          <a:noFill/>
          <a:ln>
            <a:noFill/>
          </a:ln>
        </p:spPr>
      </p:pic>
      <p:pic>
        <p:nvPicPr>
          <p:cNvPr id="155" name="Google Shape;155;p20"/>
          <p:cNvPicPr preferRelativeResize="0"/>
          <p:nvPr/>
        </p:nvPicPr>
        <p:blipFill>
          <a:blip r:embed="rId7">
            <a:alphaModFix/>
          </a:blip>
          <a:stretch>
            <a:fillRect/>
          </a:stretch>
        </p:blipFill>
        <p:spPr>
          <a:xfrm>
            <a:off x="4830000" y="2211400"/>
            <a:ext cx="4003450" cy="2630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21"/>
          <p:cNvSpPr txBox="1"/>
          <p:nvPr/>
        </p:nvSpPr>
        <p:spPr>
          <a:xfrm>
            <a:off x="411480" y="493776"/>
            <a:ext cx="8298180" cy="5486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4332"/>
              </a:buClr>
              <a:buSzPts val="2300"/>
              <a:buFont typeface="Cambria"/>
              <a:buNone/>
            </a:pPr>
            <a:r>
              <a:rPr b="1" i="0" lang="en" sz="2300" u="none" cap="none" strike="noStrike">
                <a:solidFill>
                  <a:srgbClr val="1B4332"/>
                </a:solidFill>
                <a:latin typeface="Cambria"/>
                <a:ea typeface="Cambria"/>
                <a:cs typeface="Cambria"/>
                <a:sym typeface="Cambria"/>
              </a:rPr>
              <a:t>Stabilitas Seleksi Fitur (Validasi 5-Fold)</a:t>
            </a:r>
            <a:endParaRPr b="0" i="0" sz="2300" u="none" cap="none" strike="noStrike">
              <a:solidFill>
                <a:schemeClr val="dk1"/>
              </a:solidFill>
              <a:latin typeface="Calibri"/>
              <a:ea typeface="Calibri"/>
              <a:cs typeface="Calibri"/>
              <a:sym typeface="Calibri"/>
            </a:endParaRPr>
          </a:p>
        </p:txBody>
      </p:sp>
      <p:sp>
        <p:nvSpPr>
          <p:cNvPr id="162" name="Google Shape;162;p21"/>
          <p:cNvSpPr/>
          <p:nvPr/>
        </p:nvSpPr>
        <p:spPr>
          <a:xfrm>
            <a:off x="411480" y="1320163"/>
            <a:ext cx="5212200" cy="2983200"/>
          </a:xfrm>
          <a:prstGeom prst="roundRect">
            <a:avLst>
              <a:gd fmla="val 2759" name="adj"/>
            </a:avLst>
          </a:prstGeom>
          <a:solidFill>
            <a:srgbClr val="DDEEE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1"/>
          <p:cNvSpPr/>
          <p:nvPr/>
        </p:nvSpPr>
        <p:spPr>
          <a:xfrm>
            <a:off x="617220" y="1473435"/>
            <a:ext cx="1508700" cy="480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4332"/>
              </a:buClr>
              <a:buSzPts val="2600"/>
              <a:buFont typeface="Cambria"/>
              <a:buNone/>
            </a:pPr>
            <a:r>
              <a:rPr b="1" i="0" lang="en" sz="2600" u="none" cap="none" strike="noStrike">
                <a:solidFill>
                  <a:srgbClr val="1B4332"/>
                </a:solidFill>
                <a:latin typeface="Cambria"/>
                <a:ea typeface="Cambria"/>
                <a:cs typeface="Cambria"/>
                <a:sym typeface="Cambria"/>
              </a:rPr>
              <a:t>100%</a:t>
            </a:r>
            <a:endParaRPr b="0" i="0" sz="2600" u="none" cap="none" strike="noStrike">
              <a:solidFill>
                <a:schemeClr val="dk1"/>
              </a:solidFill>
              <a:latin typeface="Calibri"/>
              <a:ea typeface="Calibri"/>
              <a:cs typeface="Calibri"/>
              <a:sym typeface="Calibri"/>
            </a:endParaRPr>
          </a:p>
        </p:txBody>
      </p:sp>
      <p:sp>
        <p:nvSpPr>
          <p:cNvPr id="164" name="Google Shape;164;p21"/>
          <p:cNvSpPr/>
          <p:nvPr/>
        </p:nvSpPr>
        <p:spPr>
          <a:xfrm>
            <a:off x="617220" y="2056865"/>
            <a:ext cx="3771900" cy="480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5F6B66"/>
              </a:buClr>
              <a:buSzPts val="900"/>
              <a:buFont typeface="Calibri"/>
              <a:buNone/>
            </a:pPr>
            <a:r>
              <a:rPr b="0" i="0" lang="en" sz="1100" u="none" cap="none" strike="noStrike">
                <a:solidFill>
                  <a:srgbClr val="5F6B66"/>
                </a:solidFill>
                <a:latin typeface="Calibri"/>
                <a:ea typeface="Calibri"/>
                <a:cs typeface="Calibri"/>
                <a:sym typeface="Calibri"/>
              </a:rPr>
              <a:t>dipertahankan di SELURUH 5 fold</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5F6B66"/>
              </a:buClr>
              <a:buSzPts val="900"/>
              <a:buFont typeface="Calibri"/>
              <a:buNone/>
            </a:pPr>
            <a:r>
              <a:rPr b="0" i="0" lang="en" sz="1100" u="none" cap="none" strike="noStrike">
                <a:solidFill>
                  <a:srgbClr val="5F6B66"/>
                </a:solidFill>
                <a:latin typeface="Calibri"/>
                <a:ea typeface="Calibri"/>
                <a:cs typeface="Calibri"/>
                <a:sym typeface="Calibri"/>
              </a:rPr>
              <a:t>(7 dari 8 variabel)</a:t>
            </a:r>
            <a:endParaRPr b="0" i="0" sz="1100" u="none" cap="none" strike="noStrike">
              <a:solidFill>
                <a:schemeClr val="dk1"/>
              </a:solidFill>
              <a:latin typeface="Calibri"/>
              <a:ea typeface="Calibri"/>
              <a:cs typeface="Calibri"/>
              <a:sym typeface="Calibri"/>
            </a:endParaRPr>
          </a:p>
        </p:txBody>
      </p:sp>
      <p:sp>
        <p:nvSpPr>
          <p:cNvPr id="165" name="Google Shape;165;p21"/>
          <p:cNvSpPr/>
          <p:nvPr/>
        </p:nvSpPr>
        <p:spPr>
          <a:xfrm>
            <a:off x="617220" y="2640330"/>
            <a:ext cx="24003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1B1B"/>
              </a:buClr>
              <a:buSzPts val="900"/>
              <a:buFont typeface="Calibri"/>
              <a:buNone/>
            </a:pPr>
            <a:r>
              <a:rPr b="0" i="0" lang="en" sz="1100" u="none" cap="none" strike="noStrike">
                <a:solidFill>
                  <a:srgbClr val="1B1B1B"/>
                </a:solidFill>
                <a:latin typeface="Calibri"/>
                <a:ea typeface="Calibri"/>
                <a:cs typeface="Calibri"/>
                <a:sym typeface="Calibri"/>
              </a:rPr>
              <a:t>●  X1 Relative Compactness</a:t>
            </a:r>
            <a:endParaRPr b="0" i="0" sz="1100" u="none" cap="none" strike="noStrike">
              <a:solidFill>
                <a:schemeClr val="dk1"/>
              </a:solidFill>
              <a:latin typeface="Calibri"/>
              <a:ea typeface="Calibri"/>
              <a:cs typeface="Calibri"/>
              <a:sym typeface="Calibri"/>
            </a:endParaRPr>
          </a:p>
        </p:txBody>
      </p:sp>
      <p:sp>
        <p:nvSpPr>
          <p:cNvPr id="166" name="Google Shape;166;p21"/>
          <p:cNvSpPr/>
          <p:nvPr/>
        </p:nvSpPr>
        <p:spPr>
          <a:xfrm>
            <a:off x="3086100" y="2640330"/>
            <a:ext cx="24003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1B1B"/>
              </a:buClr>
              <a:buSzPts val="900"/>
              <a:buFont typeface="Calibri"/>
              <a:buNone/>
            </a:pPr>
            <a:r>
              <a:rPr b="0" i="0" lang="en" sz="1100" u="none" cap="none" strike="noStrike">
                <a:solidFill>
                  <a:srgbClr val="1B1B1B"/>
                </a:solidFill>
                <a:latin typeface="Calibri"/>
                <a:ea typeface="Calibri"/>
                <a:cs typeface="Calibri"/>
                <a:sym typeface="Calibri"/>
              </a:rPr>
              <a:t>●  X2 Surface Area</a:t>
            </a:r>
            <a:endParaRPr b="0" i="0" sz="1100" u="none" cap="none" strike="noStrike">
              <a:solidFill>
                <a:schemeClr val="dk1"/>
              </a:solidFill>
              <a:latin typeface="Calibri"/>
              <a:ea typeface="Calibri"/>
              <a:cs typeface="Calibri"/>
              <a:sym typeface="Calibri"/>
            </a:endParaRPr>
          </a:p>
        </p:txBody>
      </p:sp>
      <p:sp>
        <p:nvSpPr>
          <p:cNvPr id="167" name="Google Shape;167;p21"/>
          <p:cNvSpPr/>
          <p:nvPr/>
        </p:nvSpPr>
        <p:spPr>
          <a:xfrm>
            <a:off x="617220" y="3051810"/>
            <a:ext cx="24003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1B1B"/>
              </a:buClr>
              <a:buSzPts val="900"/>
              <a:buFont typeface="Calibri"/>
              <a:buNone/>
            </a:pPr>
            <a:r>
              <a:rPr b="0" i="0" lang="en" sz="1100" u="none" cap="none" strike="noStrike">
                <a:solidFill>
                  <a:srgbClr val="1B1B1B"/>
                </a:solidFill>
                <a:latin typeface="Calibri"/>
                <a:ea typeface="Calibri"/>
                <a:cs typeface="Calibri"/>
                <a:sym typeface="Calibri"/>
              </a:rPr>
              <a:t>●  X4 Roof Area</a:t>
            </a:r>
            <a:endParaRPr b="0" i="0" sz="1100" u="none" cap="none" strike="noStrike">
              <a:solidFill>
                <a:schemeClr val="dk1"/>
              </a:solidFill>
              <a:latin typeface="Calibri"/>
              <a:ea typeface="Calibri"/>
              <a:cs typeface="Calibri"/>
              <a:sym typeface="Calibri"/>
            </a:endParaRPr>
          </a:p>
        </p:txBody>
      </p:sp>
      <p:sp>
        <p:nvSpPr>
          <p:cNvPr id="168" name="Google Shape;168;p21"/>
          <p:cNvSpPr/>
          <p:nvPr/>
        </p:nvSpPr>
        <p:spPr>
          <a:xfrm>
            <a:off x="3086100" y="3051810"/>
            <a:ext cx="24003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1B1B"/>
              </a:buClr>
              <a:buSzPts val="900"/>
              <a:buFont typeface="Calibri"/>
              <a:buNone/>
            </a:pPr>
            <a:r>
              <a:rPr b="0" i="0" lang="en" sz="1100" u="none" cap="none" strike="noStrike">
                <a:solidFill>
                  <a:srgbClr val="1B1B1B"/>
                </a:solidFill>
                <a:latin typeface="Calibri"/>
                <a:ea typeface="Calibri"/>
                <a:cs typeface="Calibri"/>
                <a:sym typeface="Calibri"/>
              </a:rPr>
              <a:t>●  X5 Overall Height</a:t>
            </a:r>
            <a:endParaRPr b="0" i="0" sz="1100" u="none" cap="none" strike="noStrike">
              <a:solidFill>
                <a:schemeClr val="dk1"/>
              </a:solidFill>
              <a:latin typeface="Calibri"/>
              <a:ea typeface="Calibri"/>
              <a:cs typeface="Calibri"/>
              <a:sym typeface="Calibri"/>
            </a:endParaRPr>
          </a:p>
        </p:txBody>
      </p:sp>
      <p:sp>
        <p:nvSpPr>
          <p:cNvPr id="169" name="Google Shape;169;p21"/>
          <p:cNvSpPr/>
          <p:nvPr/>
        </p:nvSpPr>
        <p:spPr>
          <a:xfrm>
            <a:off x="617220" y="3463290"/>
            <a:ext cx="24003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1B1B"/>
              </a:buClr>
              <a:buSzPts val="900"/>
              <a:buFont typeface="Calibri"/>
              <a:buNone/>
            </a:pPr>
            <a:r>
              <a:rPr b="0" i="0" lang="en" sz="1100" u="none" cap="none" strike="noStrike">
                <a:solidFill>
                  <a:srgbClr val="1B1B1B"/>
                </a:solidFill>
                <a:latin typeface="Calibri"/>
                <a:ea typeface="Calibri"/>
                <a:cs typeface="Calibri"/>
                <a:sym typeface="Calibri"/>
              </a:rPr>
              <a:t>●  X6 Orientation</a:t>
            </a:r>
            <a:endParaRPr b="0" i="0" sz="1100" u="none" cap="none" strike="noStrike">
              <a:solidFill>
                <a:schemeClr val="dk1"/>
              </a:solidFill>
              <a:latin typeface="Calibri"/>
              <a:ea typeface="Calibri"/>
              <a:cs typeface="Calibri"/>
              <a:sym typeface="Calibri"/>
            </a:endParaRPr>
          </a:p>
        </p:txBody>
      </p:sp>
      <p:sp>
        <p:nvSpPr>
          <p:cNvPr id="170" name="Google Shape;170;p21"/>
          <p:cNvSpPr/>
          <p:nvPr/>
        </p:nvSpPr>
        <p:spPr>
          <a:xfrm>
            <a:off x="3086100" y="3463290"/>
            <a:ext cx="24003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1B1B"/>
              </a:buClr>
              <a:buSzPts val="900"/>
              <a:buFont typeface="Calibri"/>
              <a:buNone/>
            </a:pPr>
            <a:r>
              <a:rPr b="0" i="0" lang="en" sz="1100" u="none" cap="none" strike="noStrike">
                <a:solidFill>
                  <a:srgbClr val="1B1B1B"/>
                </a:solidFill>
                <a:latin typeface="Calibri"/>
                <a:ea typeface="Calibri"/>
                <a:cs typeface="Calibri"/>
                <a:sym typeface="Calibri"/>
              </a:rPr>
              <a:t>●  X7 Glazing Area</a:t>
            </a:r>
            <a:endParaRPr b="0" i="0" sz="1100" u="none" cap="none" strike="noStrike">
              <a:solidFill>
                <a:schemeClr val="dk1"/>
              </a:solidFill>
              <a:latin typeface="Calibri"/>
              <a:ea typeface="Calibri"/>
              <a:cs typeface="Calibri"/>
              <a:sym typeface="Calibri"/>
            </a:endParaRPr>
          </a:p>
        </p:txBody>
      </p:sp>
      <p:sp>
        <p:nvSpPr>
          <p:cNvPr id="171" name="Google Shape;171;p21"/>
          <p:cNvSpPr/>
          <p:nvPr/>
        </p:nvSpPr>
        <p:spPr>
          <a:xfrm>
            <a:off x="617220" y="3874770"/>
            <a:ext cx="24003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1B1B"/>
              </a:buClr>
              <a:buSzPts val="900"/>
              <a:buFont typeface="Calibri"/>
              <a:buNone/>
            </a:pPr>
            <a:r>
              <a:rPr b="0" i="0" lang="en" sz="1100" u="none" cap="none" strike="noStrike">
                <a:solidFill>
                  <a:srgbClr val="1B1B1B"/>
                </a:solidFill>
                <a:latin typeface="Calibri"/>
                <a:ea typeface="Calibri"/>
                <a:cs typeface="Calibri"/>
                <a:sym typeface="Calibri"/>
              </a:rPr>
              <a:t>●  X8 Glazing Area Distribution</a:t>
            </a:r>
            <a:endParaRPr b="0" i="0" sz="1100" u="none" cap="none" strike="noStrike">
              <a:solidFill>
                <a:schemeClr val="dk1"/>
              </a:solidFill>
              <a:latin typeface="Calibri"/>
              <a:ea typeface="Calibri"/>
              <a:cs typeface="Calibri"/>
              <a:sym typeface="Calibri"/>
            </a:endParaRPr>
          </a:p>
        </p:txBody>
      </p:sp>
      <p:sp>
        <p:nvSpPr>
          <p:cNvPr id="172" name="Google Shape;172;p21"/>
          <p:cNvSpPr/>
          <p:nvPr/>
        </p:nvSpPr>
        <p:spPr>
          <a:xfrm>
            <a:off x="5743580" y="1320163"/>
            <a:ext cx="2983200" cy="2983200"/>
          </a:xfrm>
          <a:prstGeom prst="roundRect">
            <a:avLst>
              <a:gd fmla="val 2759" name="adj"/>
            </a:avLst>
          </a:prstGeom>
          <a:solidFill>
            <a:srgbClr val="1B433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1"/>
          <p:cNvSpPr/>
          <p:nvPr/>
        </p:nvSpPr>
        <p:spPr>
          <a:xfrm>
            <a:off x="5932170" y="1532772"/>
            <a:ext cx="1508700" cy="480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76F51"/>
              </a:buClr>
              <a:buSzPts val="2600"/>
              <a:buFont typeface="Cambria"/>
              <a:buNone/>
            </a:pPr>
            <a:r>
              <a:rPr b="1" i="0" lang="en" sz="2600" u="none" cap="none" strike="noStrike">
                <a:solidFill>
                  <a:srgbClr val="E76F51"/>
                </a:solidFill>
                <a:latin typeface="Cambria"/>
                <a:ea typeface="Cambria"/>
                <a:cs typeface="Cambria"/>
                <a:sym typeface="Cambria"/>
              </a:rPr>
              <a:t>0%</a:t>
            </a:r>
            <a:endParaRPr b="0" i="0" sz="2600" u="none" cap="none" strike="noStrike">
              <a:solidFill>
                <a:schemeClr val="dk1"/>
              </a:solidFill>
              <a:latin typeface="Calibri"/>
              <a:ea typeface="Calibri"/>
              <a:cs typeface="Calibri"/>
              <a:sym typeface="Calibri"/>
            </a:endParaRPr>
          </a:p>
        </p:txBody>
      </p:sp>
      <p:sp>
        <p:nvSpPr>
          <p:cNvPr id="174" name="Google Shape;174;p21"/>
          <p:cNvSpPr/>
          <p:nvPr/>
        </p:nvSpPr>
        <p:spPr>
          <a:xfrm>
            <a:off x="5932170" y="2012765"/>
            <a:ext cx="2606100" cy="3429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E6F2EA"/>
              </a:buClr>
              <a:buSzPts val="900"/>
              <a:buFont typeface="Calibri"/>
              <a:buNone/>
            </a:pPr>
            <a:r>
              <a:rPr b="0" i="0" lang="en" sz="900" u="none" cap="none" strike="noStrike">
                <a:solidFill>
                  <a:srgbClr val="E6F2EA"/>
                </a:solidFill>
                <a:latin typeface="Calibri"/>
                <a:ea typeface="Calibri"/>
                <a:cs typeface="Calibri"/>
                <a:sym typeface="Calibri"/>
              </a:rPr>
              <a:t>dibuang di SELURUH 5 fold</a:t>
            </a:r>
            <a:endParaRPr b="0" i="0" sz="900" u="none" cap="none" strike="noStrike">
              <a:solidFill>
                <a:schemeClr val="dk1"/>
              </a:solidFill>
              <a:latin typeface="Calibri"/>
              <a:ea typeface="Calibri"/>
              <a:cs typeface="Calibri"/>
              <a:sym typeface="Calibri"/>
            </a:endParaRPr>
          </a:p>
        </p:txBody>
      </p:sp>
      <p:sp>
        <p:nvSpPr>
          <p:cNvPr id="175" name="Google Shape;175;p21"/>
          <p:cNvSpPr/>
          <p:nvPr/>
        </p:nvSpPr>
        <p:spPr>
          <a:xfrm>
            <a:off x="5932170" y="2503170"/>
            <a:ext cx="260604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Cambria"/>
              <a:buNone/>
            </a:pPr>
            <a:r>
              <a:rPr b="1" i="0" lang="en" sz="1100" u="none" cap="none" strike="noStrike">
                <a:solidFill>
                  <a:srgbClr val="FFFFFF"/>
                </a:solidFill>
                <a:latin typeface="Cambria"/>
                <a:ea typeface="Cambria"/>
                <a:cs typeface="Cambria"/>
                <a:sym typeface="Cambria"/>
              </a:rPr>
              <a:t>X3 — Wall Area</a:t>
            </a:r>
            <a:endParaRPr b="0" i="0" sz="1100" u="none" cap="none" strike="noStrike">
              <a:solidFill>
                <a:schemeClr val="dk1"/>
              </a:solidFill>
              <a:latin typeface="Calibri"/>
              <a:ea typeface="Calibri"/>
              <a:cs typeface="Calibri"/>
              <a:sym typeface="Calibri"/>
            </a:endParaRPr>
          </a:p>
        </p:txBody>
      </p:sp>
      <p:sp>
        <p:nvSpPr>
          <p:cNvPr id="176" name="Google Shape;176;p21"/>
          <p:cNvSpPr/>
          <p:nvPr/>
        </p:nvSpPr>
        <p:spPr>
          <a:xfrm>
            <a:off x="5932170" y="2846070"/>
            <a:ext cx="2606040" cy="75438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CFE8DA"/>
              </a:buClr>
              <a:buSzPts val="900"/>
              <a:buFont typeface="Calibri"/>
              <a:buNone/>
            </a:pPr>
            <a:r>
              <a:rPr b="0" i="1" lang="en" sz="1100" u="none" cap="none" strike="noStrike">
                <a:solidFill>
                  <a:srgbClr val="CFE8DA"/>
                </a:solidFill>
                <a:latin typeface="Calibri"/>
                <a:ea typeface="Calibri"/>
                <a:cs typeface="Calibri"/>
                <a:sym typeface="Calibri"/>
              </a:rPr>
              <a:t>Eksklusi yang stabil &amp; berulang — bukan berubah-ubah antar fold.</a:t>
            </a:r>
            <a:endParaRPr b="0" i="0" sz="1100" u="none" cap="none" strike="noStrike">
              <a:solidFill>
                <a:schemeClr val="dk1"/>
              </a:solidFill>
              <a:latin typeface="Calibri"/>
              <a:ea typeface="Calibri"/>
              <a:cs typeface="Calibri"/>
              <a:sym typeface="Calibri"/>
            </a:endParaRPr>
          </a:p>
        </p:txBody>
      </p:sp>
      <p:sp>
        <p:nvSpPr>
          <p:cNvPr id="177" name="Google Shape;177;p21"/>
          <p:cNvSpPr/>
          <p:nvPr/>
        </p:nvSpPr>
        <p:spPr>
          <a:xfrm>
            <a:off x="342900" y="4903470"/>
            <a:ext cx="6515100"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F6B66"/>
              </a:buClr>
              <a:buSzPts val="700"/>
              <a:buFont typeface="Calibri"/>
              <a:buNone/>
            </a:pPr>
            <a:r>
              <a:rPr b="0" i="0" lang="en" sz="700" u="none" cap="none" strike="noStrike">
                <a:solidFill>
                  <a:srgbClr val="5F6B66"/>
                </a:solidFill>
                <a:latin typeface="Calibri"/>
                <a:ea typeface="Calibri"/>
                <a:cs typeface="Calibri"/>
                <a:sym typeface="Calibri"/>
              </a:rPr>
              <a:t>Stabilitas &amp; Informativeness Lasso Regression pada Data Energy Efficiency</a:t>
            </a:r>
            <a:endParaRPr b="0" i="0" sz="700" u="none" cap="none" strike="noStrike">
              <a:solidFill>
                <a:schemeClr val="dk1"/>
              </a:solidFill>
              <a:latin typeface="Calibri"/>
              <a:ea typeface="Calibri"/>
              <a:cs typeface="Calibri"/>
              <a:sym typeface="Calibri"/>
            </a:endParaRPr>
          </a:p>
        </p:txBody>
      </p:sp>
      <p:sp>
        <p:nvSpPr>
          <p:cNvPr id="178" name="Google Shape;178;p21"/>
          <p:cNvSpPr/>
          <p:nvPr/>
        </p:nvSpPr>
        <p:spPr>
          <a:xfrm>
            <a:off x="8572500" y="4903470"/>
            <a:ext cx="274320"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F6B66"/>
              </a:buClr>
              <a:buSzPts val="700"/>
              <a:buFont typeface="Calibri"/>
              <a:buNone/>
            </a:pPr>
            <a:r>
              <a:rPr b="0" i="0" lang="en" sz="700" u="none" cap="none" strike="noStrike">
                <a:solidFill>
                  <a:srgbClr val="5F6B66"/>
                </a:solidFill>
                <a:latin typeface="Calibri"/>
                <a:ea typeface="Calibri"/>
                <a:cs typeface="Calibri"/>
                <a:sym typeface="Calibri"/>
              </a:rPr>
              <a:t>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4332"/>
        </a:solidFill>
      </p:bgPr>
    </p:bg>
    <p:spTree>
      <p:nvGrpSpPr>
        <p:cNvPr id="183" name="Shape 183"/>
        <p:cNvGrpSpPr/>
        <p:nvPr/>
      </p:nvGrpSpPr>
      <p:grpSpPr>
        <a:xfrm>
          <a:off x="0" y="0"/>
          <a:ext cx="0" cy="0"/>
          <a:chOff x="0" y="0"/>
          <a:chExt cx="0" cy="0"/>
        </a:xfrm>
      </p:grpSpPr>
      <p:sp>
        <p:nvSpPr>
          <p:cNvPr id="184" name="Google Shape;184;p22"/>
          <p:cNvSpPr/>
          <p:nvPr/>
        </p:nvSpPr>
        <p:spPr>
          <a:xfrm>
            <a:off x="-1028700" y="3566160"/>
            <a:ext cx="3086100" cy="3086100"/>
          </a:xfrm>
          <a:prstGeom prst="ellipse">
            <a:avLst/>
          </a:prstGeom>
          <a:solidFill>
            <a:srgbClr val="2D6A4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22"/>
          <p:cNvSpPr/>
          <p:nvPr/>
        </p:nvSpPr>
        <p:spPr>
          <a:xfrm>
            <a:off x="480060" y="377190"/>
            <a:ext cx="411480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74C69D"/>
              </a:buClr>
              <a:buSzPts val="1000"/>
              <a:buFont typeface="Calibri"/>
              <a:buNone/>
            </a:pPr>
            <a:r>
              <a:rPr b="1" i="0" lang="en" sz="1000" u="none" cap="none" strike="noStrike">
                <a:solidFill>
                  <a:srgbClr val="74C69D"/>
                </a:solidFill>
                <a:latin typeface="Calibri"/>
                <a:ea typeface="Calibri"/>
                <a:cs typeface="Calibri"/>
                <a:sym typeface="Calibri"/>
              </a:rPr>
              <a:t>KESIMPULAN</a:t>
            </a:r>
            <a:endParaRPr b="0" i="0" sz="1000" u="none" cap="none" strike="noStrike">
              <a:solidFill>
                <a:schemeClr val="dk1"/>
              </a:solidFill>
              <a:latin typeface="Calibri"/>
              <a:ea typeface="Calibri"/>
              <a:cs typeface="Calibri"/>
              <a:sym typeface="Calibri"/>
            </a:endParaRPr>
          </a:p>
        </p:txBody>
      </p:sp>
      <p:sp>
        <p:nvSpPr>
          <p:cNvPr id="186" name="Google Shape;186;p22"/>
          <p:cNvSpPr/>
          <p:nvPr/>
        </p:nvSpPr>
        <p:spPr>
          <a:xfrm>
            <a:off x="480047" y="617225"/>
            <a:ext cx="8160900" cy="480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2100"/>
              <a:buFont typeface="Cambria"/>
              <a:buNone/>
            </a:pPr>
            <a:r>
              <a:rPr lang="en" sz="1500">
                <a:solidFill>
                  <a:schemeClr val="lt1"/>
                </a:solidFill>
                <a:latin typeface="Times New Roman"/>
                <a:ea typeface="Times New Roman"/>
                <a:cs typeface="Times New Roman"/>
                <a:sym typeface="Times New Roman"/>
              </a:rPr>
              <a:t>Regresi Lasso memberikan seleksi fitur yang konsisten dan stabil namun kurang informatif untuk menginterpretasikan hubungan antara parameter desain bangunan dan kebutuhan energi. </a:t>
            </a:r>
            <a:endParaRPr b="0" i="0" sz="2400" u="none" cap="none" strike="noStrike">
              <a:solidFill>
                <a:schemeClr val="lt1"/>
              </a:solidFill>
              <a:latin typeface="Calibri"/>
              <a:ea typeface="Calibri"/>
              <a:cs typeface="Calibri"/>
              <a:sym typeface="Calibri"/>
            </a:endParaRPr>
          </a:p>
        </p:txBody>
      </p:sp>
      <p:sp>
        <p:nvSpPr>
          <p:cNvPr id="187" name="Google Shape;187;p22"/>
          <p:cNvSpPr/>
          <p:nvPr/>
        </p:nvSpPr>
        <p:spPr>
          <a:xfrm>
            <a:off x="480060" y="1303020"/>
            <a:ext cx="2606040" cy="48006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74C69D"/>
              </a:buClr>
              <a:buSzPts val="2000"/>
              <a:buFont typeface="Cambria"/>
              <a:buNone/>
            </a:pPr>
            <a:r>
              <a:rPr b="1" i="0" lang="en" sz="2000" u="none" cap="none" strike="noStrike">
                <a:solidFill>
                  <a:srgbClr val="74C69D"/>
                </a:solidFill>
                <a:latin typeface="Cambria"/>
                <a:ea typeface="Cambria"/>
                <a:cs typeface="Cambria"/>
                <a:sym typeface="Cambria"/>
              </a:rPr>
              <a:t>0,914 / 0,863</a:t>
            </a:r>
            <a:endParaRPr b="0" i="0" sz="2000" u="none" cap="none" strike="noStrike">
              <a:solidFill>
                <a:schemeClr val="dk1"/>
              </a:solidFill>
              <a:latin typeface="Calibri"/>
              <a:ea typeface="Calibri"/>
              <a:cs typeface="Calibri"/>
              <a:sym typeface="Calibri"/>
            </a:endParaRPr>
          </a:p>
        </p:txBody>
      </p:sp>
      <p:sp>
        <p:nvSpPr>
          <p:cNvPr id="188" name="Google Shape;188;p22"/>
          <p:cNvSpPr/>
          <p:nvPr/>
        </p:nvSpPr>
        <p:spPr>
          <a:xfrm>
            <a:off x="480060" y="1783080"/>
            <a:ext cx="2606040" cy="75438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CFE8DA"/>
              </a:buClr>
              <a:buSzPts val="900"/>
              <a:buFont typeface="Calibri"/>
              <a:buNone/>
            </a:pPr>
            <a:r>
              <a:rPr b="0" i="0" lang="en" sz="1100" u="none" cap="none" strike="noStrike">
                <a:solidFill>
                  <a:srgbClr val="CFE8DA"/>
                </a:solidFill>
                <a:latin typeface="Calibri"/>
                <a:ea typeface="Calibri"/>
                <a:cs typeface="Calibri"/>
                <a:sym typeface="Calibri"/>
              </a:rPr>
              <a:t>R² Lasso (Y1 / Y2) — setara OLS, lebih baik dari Ridge</a:t>
            </a:r>
            <a:endParaRPr b="0" i="0" sz="1100" u="none" cap="none" strike="noStrike">
              <a:solidFill>
                <a:schemeClr val="dk1"/>
              </a:solidFill>
              <a:latin typeface="Calibri"/>
              <a:ea typeface="Calibri"/>
              <a:cs typeface="Calibri"/>
              <a:sym typeface="Calibri"/>
            </a:endParaRPr>
          </a:p>
        </p:txBody>
      </p:sp>
      <p:sp>
        <p:nvSpPr>
          <p:cNvPr id="189" name="Google Shape;189;p22"/>
          <p:cNvSpPr/>
          <p:nvPr/>
        </p:nvSpPr>
        <p:spPr>
          <a:xfrm>
            <a:off x="3291840" y="1303020"/>
            <a:ext cx="2606040" cy="48006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74C69D"/>
              </a:buClr>
              <a:buSzPts val="2000"/>
              <a:buFont typeface="Cambria"/>
              <a:buNone/>
            </a:pPr>
            <a:r>
              <a:rPr b="1" i="0" lang="en" sz="2000" u="none" cap="none" strike="noStrike">
                <a:solidFill>
                  <a:srgbClr val="74C69D"/>
                </a:solidFill>
                <a:latin typeface="Cambria"/>
                <a:ea typeface="Cambria"/>
                <a:cs typeface="Cambria"/>
                <a:sym typeface="Cambria"/>
              </a:rPr>
              <a:t>100% / 0%</a:t>
            </a:r>
            <a:endParaRPr b="0" i="0" sz="2000" u="none" cap="none" strike="noStrike">
              <a:solidFill>
                <a:schemeClr val="dk1"/>
              </a:solidFill>
              <a:latin typeface="Calibri"/>
              <a:ea typeface="Calibri"/>
              <a:cs typeface="Calibri"/>
              <a:sym typeface="Calibri"/>
            </a:endParaRPr>
          </a:p>
        </p:txBody>
      </p:sp>
      <p:sp>
        <p:nvSpPr>
          <p:cNvPr id="190" name="Google Shape;190;p22"/>
          <p:cNvSpPr/>
          <p:nvPr/>
        </p:nvSpPr>
        <p:spPr>
          <a:xfrm>
            <a:off x="3291840" y="1783080"/>
            <a:ext cx="2606040" cy="75438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CFE8DA"/>
              </a:buClr>
              <a:buSzPts val="900"/>
              <a:buFont typeface="Calibri"/>
              <a:buNone/>
            </a:pPr>
            <a:r>
              <a:rPr b="0" i="0" lang="en" sz="1100" u="none" cap="none" strike="noStrike">
                <a:solidFill>
                  <a:srgbClr val="CFE8DA"/>
                </a:solidFill>
                <a:latin typeface="Calibri"/>
                <a:ea typeface="Calibri"/>
                <a:cs typeface="Calibri"/>
                <a:sym typeface="Calibri"/>
              </a:rPr>
              <a:t>Stabilitas seleksi — 7 variabel dipertahankan, Wall Area dibuang, di seluruh 5 fold</a:t>
            </a:r>
            <a:endParaRPr b="0" i="0" sz="1100" u="none" cap="none" strike="noStrike">
              <a:solidFill>
                <a:schemeClr val="dk1"/>
              </a:solidFill>
              <a:latin typeface="Calibri"/>
              <a:ea typeface="Calibri"/>
              <a:cs typeface="Calibri"/>
              <a:sym typeface="Calibri"/>
            </a:endParaRPr>
          </a:p>
        </p:txBody>
      </p:sp>
      <p:sp>
        <p:nvSpPr>
          <p:cNvPr id="191" name="Google Shape;191;p22"/>
          <p:cNvSpPr/>
          <p:nvPr/>
        </p:nvSpPr>
        <p:spPr>
          <a:xfrm>
            <a:off x="6103620" y="1303020"/>
            <a:ext cx="2606040" cy="48006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74C69D"/>
              </a:buClr>
              <a:buSzPts val="2000"/>
              <a:buFont typeface="Cambria"/>
              <a:buNone/>
            </a:pPr>
            <a:r>
              <a:rPr b="1" lang="en" sz="2000">
                <a:solidFill>
                  <a:srgbClr val="74C69D"/>
                </a:solidFill>
                <a:latin typeface="Cambria"/>
                <a:ea typeface="Cambria"/>
                <a:cs typeface="Cambria"/>
                <a:sym typeface="Cambria"/>
              </a:rPr>
              <a:t>X4</a:t>
            </a:r>
            <a:endParaRPr b="0" i="0" sz="2000" u="none" cap="none" strike="noStrike">
              <a:solidFill>
                <a:schemeClr val="dk1"/>
              </a:solidFill>
              <a:latin typeface="Calibri"/>
              <a:ea typeface="Calibri"/>
              <a:cs typeface="Calibri"/>
              <a:sym typeface="Calibri"/>
            </a:endParaRPr>
          </a:p>
        </p:txBody>
      </p:sp>
      <p:sp>
        <p:nvSpPr>
          <p:cNvPr id="192" name="Google Shape;192;p22"/>
          <p:cNvSpPr/>
          <p:nvPr/>
        </p:nvSpPr>
        <p:spPr>
          <a:xfrm>
            <a:off x="6103620" y="1782955"/>
            <a:ext cx="2606100" cy="754500"/>
          </a:xfrm>
          <a:prstGeom prst="rect">
            <a:avLst/>
          </a:prstGeom>
          <a:noFill/>
          <a:ln>
            <a:noFill/>
          </a:ln>
        </p:spPr>
        <p:txBody>
          <a:bodyPr anchorCtr="0" anchor="t" bIns="34275" lIns="68575" spcFirstLastPara="1" rIns="68575" wrap="square" tIns="34275">
            <a:noAutofit/>
          </a:bodyPr>
          <a:lstStyle/>
          <a:p>
            <a:pPr indent="0" lvl="0" marL="0" marR="0" rtl="0" algn="l">
              <a:lnSpc>
                <a:spcPct val="125000"/>
              </a:lnSpc>
              <a:spcBef>
                <a:spcPts val="0"/>
              </a:spcBef>
              <a:spcAft>
                <a:spcPts val="0"/>
              </a:spcAft>
              <a:buClr>
                <a:srgbClr val="CFE8DA"/>
              </a:buClr>
              <a:buSzPts val="900"/>
              <a:buFont typeface="Calibri"/>
              <a:buNone/>
            </a:pPr>
            <a:r>
              <a:rPr lang="en" sz="1100">
                <a:solidFill>
                  <a:srgbClr val="CFE8DA"/>
                </a:solidFill>
                <a:latin typeface="Calibri"/>
                <a:ea typeface="Calibri"/>
                <a:cs typeface="Calibri"/>
                <a:sym typeface="Calibri"/>
              </a:rPr>
              <a:t>Roof Area (X4) merupakan variable redundan yang seharusnya dieliminasi oleh model.</a:t>
            </a:r>
            <a:r>
              <a:rPr lang="en" sz="1100">
                <a:solidFill>
                  <a:srgbClr val="B7D8C6"/>
                </a:solidFill>
                <a:latin typeface="Calibri"/>
                <a:ea typeface="Calibri"/>
                <a:cs typeface="Calibri"/>
                <a:sym typeface="Calibri"/>
              </a:rPr>
              <a:t> </a:t>
            </a:r>
            <a:endParaRPr i="0" sz="1100" u="none" cap="none" strike="noStrike">
              <a:solidFill>
                <a:srgbClr val="B7D8C6"/>
              </a:solidFill>
              <a:latin typeface="Calibri"/>
              <a:ea typeface="Calibri"/>
              <a:cs typeface="Calibri"/>
              <a:sym typeface="Calibri"/>
            </a:endParaRPr>
          </a:p>
        </p:txBody>
      </p:sp>
      <p:cxnSp>
        <p:nvCxnSpPr>
          <p:cNvPr id="193" name="Google Shape;193;p22"/>
          <p:cNvCxnSpPr/>
          <p:nvPr/>
        </p:nvCxnSpPr>
        <p:spPr>
          <a:xfrm>
            <a:off x="480060" y="2743200"/>
            <a:ext cx="8161020" cy="0"/>
          </a:xfrm>
          <a:prstGeom prst="straightConnector1">
            <a:avLst/>
          </a:prstGeom>
          <a:noFill/>
          <a:ln cap="flat" cmpd="sng" w="12700">
            <a:solidFill>
              <a:srgbClr val="2D6A4F"/>
            </a:solidFill>
            <a:prstDash val="solid"/>
            <a:round/>
            <a:headEnd len="sm" w="sm" type="none"/>
            <a:tailEnd len="sm" w="sm" type="none"/>
          </a:ln>
        </p:spPr>
      </p:cxnSp>
      <p:sp>
        <p:nvSpPr>
          <p:cNvPr id="194" name="Google Shape;194;p22"/>
          <p:cNvSpPr/>
          <p:nvPr/>
        </p:nvSpPr>
        <p:spPr>
          <a:xfrm>
            <a:off x="480050" y="2948952"/>
            <a:ext cx="8160900" cy="1576500"/>
          </a:xfrm>
          <a:prstGeom prst="rect">
            <a:avLst/>
          </a:prstGeom>
          <a:noFill/>
          <a:ln>
            <a:noFill/>
          </a:ln>
        </p:spPr>
        <p:txBody>
          <a:bodyPr anchorCtr="0" anchor="t" bIns="34275" lIns="68575" spcFirstLastPara="1" rIns="68575" wrap="square" tIns="34275">
            <a:noAutofit/>
          </a:bodyPr>
          <a:lstStyle/>
          <a:p>
            <a:pPr indent="0" lvl="0" marL="0" marR="0" rtl="0" algn="just">
              <a:lnSpc>
                <a:spcPct val="135000"/>
              </a:lnSpc>
              <a:spcBef>
                <a:spcPts val="0"/>
              </a:spcBef>
              <a:spcAft>
                <a:spcPts val="0"/>
              </a:spcAft>
              <a:buClr>
                <a:srgbClr val="FFFFFF"/>
              </a:buClr>
              <a:buSzPts val="1100"/>
              <a:buFont typeface="Calibri"/>
              <a:buNone/>
            </a:pPr>
            <a:r>
              <a:rPr i="1" lang="en" sz="1200">
                <a:solidFill>
                  <a:srgbClr val="FFFFFF"/>
                </a:solidFill>
                <a:latin typeface="Calibri"/>
                <a:ea typeface="Calibri"/>
                <a:cs typeface="Calibri"/>
                <a:sym typeface="Calibri"/>
              </a:rPr>
              <a:t>Pada penelitian ini, Lasso tidak hanya menghasilkan seleksi fitur yang konsisten, tetapi juga memberikan kinerja prediktif yang baik meskipun data memiliki multikolinearitas tinggi.Namun, metode seleksi fitur Lasso memiliki keterbatasan karena variabel dengan koefisien nol belum tentu tidak memiliki peran penting dalam menjelaskan variabel respons. Dalam kondisi multikolinearitas, suatu variabel dapat tidak dipilih karena informasi yang dimilikinya dapat diwakili oleh variabel lain yang berkorelasi. Oleh karena itu, hasil seleksi fitur Lasso perlu diinterpretasikan dengan mempertimbangkan hubungan antarvariabel prediktor.</a:t>
            </a:r>
            <a:endParaRPr b="0" i="0" sz="1200" u="none" cap="none" strike="noStrike">
              <a:solidFill>
                <a:schemeClr val="dk1"/>
              </a:solidFill>
              <a:latin typeface="Calibri"/>
              <a:ea typeface="Calibri"/>
              <a:cs typeface="Calibri"/>
              <a:sym typeface="Calibri"/>
            </a:endParaRPr>
          </a:p>
        </p:txBody>
      </p:sp>
      <p:sp>
        <p:nvSpPr>
          <p:cNvPr id="195" name="Google Shape;195;p22"/>
          <p:cNvSpPr/>
          <p:nvPr/>
        </p:nvSpPr>
        <p:spPr>
          <a:xfrm>
            <a:off x="480060" y="4697730"/>
            <a:ext cx="788670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B7D8C6"/>
              </a:buClr>
              <a:buSzPts val="800"/>
              <a:buFont typeface="Calibri"/>
              <a:buNone/>
            </a:pPr>
            <a:r>
              <a:rPr b="0" i="0" lang="en" sz="800" u="none" cap="none" strike="noStrike">
                <a:solidFill>
                  <a:srgbClr val="B7D8C6"/>
                </a:solidFill>
                <a:latin typeface="Calibri"/>
                <a:ea typeface="Calibri"/>
                <a:cs typeface="Calibri"/>
                <a:sym typeface="Calibri"/>
              </a:rPr>
              <a:t>Yusrifa Audzar  ·  Illa Rosyidah  ·  Magister Statistika Terapan, Universitas Padjadjaran,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